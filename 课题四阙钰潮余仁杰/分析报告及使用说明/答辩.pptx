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5" r:id="rId5"/>
    <p:sldId id="267" r:id="rId6"/>
    <p:sldId id="296" r:id="rId7"/>
    <p:sldId id="273" r:id="rId8"/>
    <p:sldId id="268" r:id="rId9"/>
    <p:sldId id="272" r:id="rId10"/>
    <p:sldId id="297" r:id="rId11"/>
    <p:sldId id="277" r:id="rId12"/>
    <p:sldId id="298" r:id="rId13"/>
    <p:sldId id="279" r:id="rId14"/>
    <p:sldId id="278" r:id="rId15"/>
    <p:sldId id="29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D57"/>
    <a:srgbClr val="666E8A"/>
    <a:srgbClr val="FCFBF7"/>
    <a:srgbClr val="F8FAF7"/>
    <a:srgbClr val="3C4750"/>
    <a:srgbClr val="433D3C"/>
    <a:srgbClr val="76592F"/>
    <a:srgbClr val="D7B76E"/>
    <a:srgbClr val="211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84985" autoAdjust="0"/>
  </p:normalViewPr>
  <p:slideViewPr>
    <p:cSldViewPr snapToGrid="0">
      <p:cViewPr varScale="1">
        <p:scale>
          <a:sx n="102" d="100"/>
          <a:sy n="102" d="100"/>
        </p:scale>
        <p:origin x="14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03C77-A78C-4252-8C67-1586AC059AB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89E83-3291-442D-B23D-7491AF5F72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79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89E83-3291-442D-B23D-7491AF5F72D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958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492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444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073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391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659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23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900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CF89-91F4-45FB-A589-58532703FC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867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666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93634" y="0"/>
            <a:ext cx="714526" cy="1179982"/>
          </a:xfrm>
          <a:prstGeom prst="rect">
            <a:avLst/>
          </a:prstGeom>
          <a:solidFill>
            <a:srgbClr val="444D57"/>
          </a:solidFill>
          <a:ln>
            <a:noFill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标题 116"/>
          <p:cNvSpPr>
            <a:spLocks noGrp="1"/>
          </p:cNvSpPr>
          <p:nvPr>
            <p:ph type="title" hasCustomPrompt="1"/>
          </p:nvPr>
        </p:nvSpPr>
        <p:spPr>
          <a:xfrm>
            <a:off x="1457698" y="55176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b="1">
                <a:solidFill>
                  <a:srgbClr val="211E20"/>
                </a:solidFill>
                <a:ea typeface="思源黑体" panose="020B0500000000000000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9" name="任意多边形: 形状 8"/>
          <p:cNvSpPr>
            <a:spLocks noEditPoints="1"/>
          </p:cNvSpPr>
          <p:nvPr userDrawn="1"/>
        </p:nvSpPr>
        <p:spPr bwMode="auto">
          <a:xfrm>
            <a:off x="635500" y="53070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79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525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E04F6-98DC-0E79-4F18-139B6DF29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D87A34-6088-446C-3825-8327F167D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EED4C-D496-EB84-80C6-399DA5892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088782-2B32-4233-814D-CED713BD12C4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F65C0-A94F-C523-73F6-0EE1E29E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C97546-22BC-F18D-5DA4-E2384124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5934215-EF33-4E28-8D1D-CB1C76F570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48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32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1491176"/>
            <a:ext cx="1997612" cy="562707"/>
          </a:xfrm>
          <a:prstGeom prst="rect">
            <a:avLst/>
          </a:prstGeom>
          <a:solidFill>
            <a:srgbClr val="44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0389476" y="5428903"/>
            <a:ext cx="1802524" cy="442793"/>
          </a:xfrm>
          <a:prstGeom prst="rect">
            <a:avLst/>
          </a:prstGeom>
          <a:solidFill>
            <a:srgbClr val="44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986582" y="468844"/>
            <a:ext cx="8192759" cy="4178106"/>
            <a:chOff x="956602" y="393894"/>
            <a:chExt cx="8192759" cy="4178106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6" name="直接连接符 5"/>
            <p:cNvCxnSpPr/>
            <p:nvPr/>
          </p:nvCxnSpPr>
          <p:spPr>
            <a:xfrm>
              <a:off x="1005840" y="460085"/>
              <a:ext cx="8143521" cy="0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956602" y="393894"/>
              <a:ext cx="0" cy="4178106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3385200" y="2053883"/>
            <a:ext cx="7779433" cy="4318781"/>
            <a:chOff x="3385200" y="2053883"/>
            <a:chExt cx="7779433" cy="4318781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9" name="直接连接符 8"/>
            <p:cNvCxnSpPr/>
            <p:nvPr/>
          </p:nvCxnSpPr>
          <p:spPr>
            <a:xfrm>
              <a:off x="3385200" y="6307439"/>
              <a:ext cx="7779433" cy="0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1099407" y="2053883"/>
              <a:ext cx="0" cy="4318781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1453119" y="1125414"/>
            <a:ext cx="10359130" cy="5425288"/>
            <a:chOff x="1453119" y="1125414"/>
            <a:chExt cx="10359130" cy="5425288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7" name="直接连接符 6"/>
            <p:cNvCxnSpPr/>
            <p:nvPr/>
          </p:nvCxnSpPr>
          <p:spPr>
            <a:xfrm>
              <a:off x="1453119" y="1125414"/>
              <a:ext cx="10359130" cy="0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519310" y="1125414"/>
              <a:ext cx="0" cy="5425288"/>
            </a:xfrm>
            <a:prstGeom prst="line">
              <a:avLst/>
            </a:prstGeom>
            <a:ln w="1270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2242291" y="3655262"/>
            <a:ext cx="8335010" cy="40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433D3C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二维设计稿转</a:t>
            </a:r>
            <a:r>
              <a:rPr lang="en-US" altLang="zh-CN" sz="2400" dirty="0">
                <a:solidFill>
                  <a:srgbClr val="433D3C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3D</a:t>
            </a:r>
            <a:r>
              <a:rPr lang="zh-CN" altLang="en-US" sz="2400" dirty="0">
                <a:solidFill>
                  <a:srgbClr val="433D3C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模型最小原型</a:t>
            </a:r>
            <a:endParaRPr lang="en-US" altLang="zh-CN" sz="2400" dirty="0">
              <a:solidFill>
                <a:srgbClr val="433D3C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175815" y="5188685"/>
            <a:ext cx="3349246" cy="328873"/>
            <a:chOff x="4145217" y="5485094"/>
            <a:chExt cx="3349246" cy="328873"/>
          </a:xfrm>
        </p:grpSpPr>
        <p:grpSp>
          <p:nvGrpSpPr>
            <p:cNvPr id="32" name="组合 31"/>
            <p:cNvGrpSpPr/>
            <p:nvPr/>
          </p:nvGrpSpPr>
          <p:grpSpPr>
            <a:xfrm>
              <a:off x="4145217" y="5485094"/>
              <a:ext cx="3349246" cy="328873"/>
              <a:chOff x="6825277" y="5781148"/>
              <a:chExt cx="4946457" cy="485710"/>
            </a:xfrm>
          </p:grpSpPr>
          <p:sp>
            <p:nvSpPr>
              <p:cNvPr id="39" name="任意多边形: 形状 38"/>
              <p:cNvSpPr/>
              <p:nvPr/>
            </p:nvSpPr>
            <p:spPr bwMode="auto">
              <a:xfrm>
                <a:off x="6825277" y="5783863"/>
                <a:ext cx="504825" cy="442913"/>
              </a:xfrm>
              <a:custGeom>
                <a:avLst/>
                <a:gdLst>
                  <a:gd name="T0" fmla="*/ 472 w 613"/>
                  <a:gd name="T1" fmla="*/ 18 h 537"/>
                  <a:gd name="T2" fmla="*/ 539 w 613"/>
                  <a:gd name="T3" fmla="*/ 134 h 537"/>
                  <a:gd name="T4" fmla="*/ 605 w 613"/>
                  <a:gd name="T5" fmla="*/ 248 h 537"/>
                  <a:gd name="T6" fmla="*/ 606 w 613"/>
                  <a:gd name="T7" fmla="*/ 287 h 537"/>
                  <a:gd name="T8" fmla="*/ 539 w 613"/>
                  <a:gd name="T9" fmla="*/ 403 h 537"/>
                  <a:gd name="T10" fmla="*/ 473 w 613"/>
                  <a:gd name="T11" fmla="*/ 517 h 537"/>
                  <a:gd name="T12" fmla="*/ 440 w 613"/>
                  <a:gd name="T13" fmla="*/ 537 h 537"/>
                  <a:gd name="T14" fmla="*/ 306 w 613"/>
                  <a:gd name="T15" fmla="*/ 537 h 537"/>
                  <a:gd name="T16" fmla="*/ 175 w 613"/>
                  <a:gd name="T17" fmla="*/ 537 h 537"/>
                  <a:gd name="T18" fmla="*/ 140 w 613"/>
                  <a:gd name="T19" fmla="*/ 519 h 537"/>
                  <a:gd name="T20" fmla="*/ 73 w 613"/>
                  <a:gd name="T21" fmla="*/ 403 h 537"/>
                  <a:gd name="T22" fmla="*/ 7 w 613"/>
                  <a:gd name="T23" fmla="*/ 289 h 537"/>
                  <a:gd name="T24" fmla="*/ 6 w 613"/>
                  <a:gd name="T25" fmla="*/ 250 h 537"/>
                  <a:gd name="T26" fmla="*/ 73 w 613"/>
                  <a:gd name="T27" fmla="*/ 134 h 537"/>
                  <a:gd name="T28" fmla="*/ 139 w 613"/>
                  <a:gd name="T29" fmla="*/ 20 h 537"/>
                  <a:gd name="T30" fmla="*/ 172 w 613"/>
                  <a:gd name="T31" fmla="*/ 0 h 537"/>
                  <a:gd name="T32" fmla="*/ 306 w 613"/>
                  <a:gd name="T33" fmla="*/ 0 h 537"/>
                  <a:gd name="T34" fmla="*/ 437 w 613"/>
                  <a:gd name="T35" fmla="*/ 0 h 537"/>
                  <a:gd name="T36" fmla="*/ 472 w 613"/>
                  <a:gd name="T37" fmla="*/ 18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3" h="537">
                    <a:moveTo>
                      <a:pt x="472" y="18"/>
                    </a:moveTo>
                    <a:lnTo>
                      <a:pt x="539" y="134"/>
                    </a:lnTo>
                    <a:cubicBezTo>
                      <a:pt x="561" y="172"/>
                      <a:pt x="583" y="210"/>
                      <a:pt x="605" y="248"/>
                    </a:cubicBezTo>
                    <a:cubicBezTo>
                      <a:pt x="612" y="260"/>
                      <a:pt x="613" y="273"/>
                      <a:pt x="606" y="287"/>
                    </a:cubicBezTo>
                    <a:lnTo>
                      <a:pt x="539" y="403"/>
                    </a:lnTo>
                    <a:cubicBezTo>
                      <a:pt x="517" y="441"/>
                      <a:pt x="495" y="479"/>
                      <a:pt x="473" y="517"/>
                    </a:cubicBezTo>
                    <a:cubicBezTo>
                      <a:pt x="466" y="529"/>
                      <a:pt x="455" y="536"/>
                      <a:pt x="440" y="537"/>
                    </a:cubicBezTo>
                    <a:lnTo>
                      <a:pt x="306" y="537"/>
                    </a:lnTo>
                    <a:cubicBezTo>
                      <a:pt x="262" y="537"/>
                      <a:pt x="219" y="537"/>
                      <a:pt x="175" y="537"/>
                    </a:cubicBezTo>
                    <a:cubicBezTo>
                      <a:pt x="160" y="537"/>
                      <a:pt x="149" y="532"/>
                      <a:pt x="140" y="519"/>
                    </a:cubicBezTo>
                    <a:lnTo>
                      <a:pt x="73" y="403"/>
                    </a:lnTo>
                    <a:cubicBezTo>
                      <a:pt x="51" y="365"/>
                      <a:pt x="29" y="327"/>
                      <a:pt x="7" y="289"/>
                    </a:cubicBezTo>
                    <a:cubicBezTo>
                      <a:pt x="1" y="277"/>
                      <a:pt x="0" y="264"/>
                      <a:pt x="6" y="250"/>
                    </a:cubicBezTo>
                    <a:lnTo>
                      <a:pt x="73" y="134"/>
                    </a:lnTo>
                    <a:cubicBezTo>
                      <a:pt x="95" y="96"/>
                      <a:pt x="117" y="58"/>
                      <a:pt x="139" y="20"/>
                    </a:cubicBezTo>
                    <a:cubicBezTo>
                      <a:pt x="146" y="8"/>
                      <a:pt x="157" y="1"/>
                      <a:pt x="172" y="0"/>
                    </a:cubicBezTo>
                    <a:lnTo>
                      <a:pt x="306" y="0"/>
                    </a:lnTo>
                    <a:cubicBezTo>
                      <a:pt x="350" y="0"/>
                      <a:pt x="394" y="0"/>
                      <a:pt x="437" y="0"/>
                    </a:cubicBezTo>
                    <a:cubicBezTo>
                      <a:pt x="452" y="0"/>
                      <a:pt x="464" y="5"/>
                      <a:pt x="472" y="18"/>
                    </a:cubicBezTo>
                    <a:close/>
                  </a:path>
                </a:pathLst>
              </a:custGeom>
              <a:solidFill>
                <a:srgbClr val="3C4750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199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359440" y="5781148"/>
                <a:ext cx="4412294" cy="485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399" dirty="0">
                    <a:solidFill>
                      <a:srgbClr val="433D3C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答辩人：阙钰潮，余仁杰</a:t>
                </a:r>
                <a:endParaRPr lang="en-US" altLang="zh-CN" sz="1399" dirty="0">
                  <a:solidFill>
                    <a:srgbClr val="433D3C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4257905" y="5548937"/>
              <a:ext cx="123972" cy="185092"/>
              <a:chOff x="324355" y="832717"/>
              <a:chExt cx="627063" cy="1065213"/>
            </a:xfrm>
            <a:solidFill>
              <a:srgbClr val="F0F2F4"/>
            </a:solidFill>
          </p:grpSpPr>
          <p:sp>
            <p:nvSpPr>
              <p:cNvPr id="34" name="任意多边形: 形状 33"/>
              <p:cNvSpPr>
                <a:spLocks/>
              </p:cNvSpPr>
              <p:nvPr/>
            </p:nvSpPr>
            <p:spPr bwMode="auto">
              <a:xfrm>
                <a:off x="324355" y="1420092"/>
                <a:ext cx="627063" cy="477838"/>
              </a:xfrm>
              <a:custGeom>
                <a:avLst/>
                <a:gdLst>
                  <a:gd name="T0" fmla="*/ 166 w 167"/>
                  <a:gd name="T1" fmla="*/ 39 h 127"/>
                  <a:gd name="T2" fmla="*/ 129 w 167"/>
                  <a:gd name="T3" fmla="*/ 0 h 127"/>
                  <a:gd name="T4" fmla="*/ 93 w 167"/>
                  <a:gd name="T5" fmla="*/ 60 h 127"/>
                  <a:gd name="T6" fmla="*/ 88 w 167"/>
                  <a:gd name="T7" fmla="*/ 33 h 127"/>
                  <a:gd name="T8" fmla="*/ 93 w 167"/>
                  <a:gd name="T9" fmla="*/ 24 h 127"/>
                  <a:gd name="T10" fmla="*/ 83 w 167"/>
                  <a:gd name="T11" fmla="*/ 14 h 127"/>
                  <a:gd name="T12" fmla="*/ 73 w 167"/>
                  <a:gd name="T13" fmla="*/ 24 h 127"/>
                  <a:gd name="T14" fmla="*/ 78 w 167"/>
                  <a:gd name="T15" fmla="*/ 33 h 127"/>
                  <a:gd name="T16" fmla="*/ 73 w 167"/>
                  <a:gd name="T17" fmla="*/ 60 h 127"/>
                  <a:gd name="T18" fmla="*/ 38 w 167"/>
                  <a:gd name="T19" fmla="*/ 0 h 127"/>
                  <a:gd name="T20" fmla="*/ 0 w 167"/>
                  <a:gd name="T21" fmla="*/ 39 h 127"/>
                  <a:gd name="T22" fmla="*/ 0 w 167"/>
                  <a:gd name="T23" fmla="*/ 39 h 127"/>
                  <a:gd name="T24" fmla="*/ 0 w 167"/>
                  <a:gd name="T25" fmla="*/ 127 h 127"/>
                  <a:gd name="T26" fmla="*/ 167 w 167"/>
                  <a:gd name="T27" fmla="*/ 127 h 127"/>
                  <a:gd name="T28" fmla="*/ 167 w 167"/>
                  <a:gd name="T29" fmla="*/ 39 h 127"/>
                  <a:gd name="T30" fmla="*/ 166 w 167"/>
                  <a:gd name="T31" fmla="*/ 39 h 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7" h="127">
                    <a:moveTo>
                      <a:pt x="166" y="39"/>
                    </a:moveTo>
                    <a:cubicBezTo>
                      <a:pt x="163" y="23"/>
                      <a:pt x="149" y="8"/>
                      <a:pt x="129" y="0"/>
                    </a:cubicBezTo>
                    <a:cubicBezTo>
                      <a:pt x="93" y="60"/>
                      <a:pt x="93" y="60"/>
                      <a:pt x="93" y="60"/>
                    </a:cubicBezTo>
                    <a:cubicBezTo>
                      <a:pt x="88" y="33"/>
                      <a:pt x="88" y="33"/>
                      <a:pt x="88" y="33"/>
                    </a:cubicBezTo>
                    <a:cubicBezTo>
                      <a:pt x="91" y="31"/>
                      <a:pt x="93" y="28"/>
                      <a:pt x="93" y="24"/>
                    </a:cubicBezTo>
                    <a:cubicBezTo>
                      <a:pt x="93" y="19"/>
                      <a:pt x="89" y="14"/>
                      <a:pt x="83" y="14"/>
                    </a:cubicBezTo>
                    <a:cubicBezTo>
                      <a:pt x="77" y="14"/>
                      <a:pt x="73" y="19"/>
                      <a:pt x="73" y="24"/>
                    </a:cubicBezTo>
                    <a:cubicBezTo>
                      <a:pt x="73" y="28"/>
                      <a:pt x="75" y="31"/>
                      <a:pt x="78" y="33"/>
                    </a:cubicBezTo>
                    <a:cubicBezTo>
                      <a:pt x="73" y="60"/>
                      <a:pt x="73" y="60"/>
                      <a:pt x="73" y="6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17" y="8"/>
                      <a:pt x="3" y="23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167" y="127"/>
                      <a:pt x="167" y="127"/>
                      <a:pt x="167" y="127"/>
                    </a:cubicBezTo>
                    <a:cubicBezTo>
                      <a:pt x="167" y="39"/>
                      <a:pt x="167" y="39"/>
                      <a:pt x="167" y="39"/>
                    </a:cubicBezTo>
                    <a:lnTo>
                      <a:pt x="166" y="3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400"/>
              </a:p>
            </p:txBody>
          </p:sp>
          <p:sp>
            <p:nvSpPr>
              <p:cNvPr id="35" name="任意多边形: 形状 34"/>
              <p:cNvSpPr>
                <a:spLocks noEditPoints="1"/>
              </p:cNvSpPr>
              <p:nvPr/>
            </p:nvSpPr>
            <p:spPr bwMode="auto">
              <a:xfrm>
                <a:off x="443418" y="881929"/>
                <a:ext cx="382588" cy="538163"/>
              </a:xfrm>
              <a:custGeom>
                <a:avLst/>
                <a:gdLst>
                  <a:gd name="T0" fmla="*/ 0 w 102"/>
                  <a:gd name="T1" fmla="*/ 87 h 143"/>
                  <a:gd name="T2" fmla="*/ 10 w 102"/>
                  <a:gd name="T3" fmla="*/ 101 h 143"/>
                  <a:gd name="T4" fmla="*/ 51 w 102"/>
                  <a:gd name="T5" fmla="*/ 143 h 143"/>
                  <a:gd name="T6" fmla="*/ 91 w 102"/>
                  <a:gd name="T7" fmla="*/ 101 h 143"/>
                  <a:gd name="T8" fmla="*/ 92 w 102"/>
                  <a:gd name="T9" fmla="*/ 101 h 143"/>
                  <a:gd name="T10" fmla="*/ 102 w 102"/>
                  <a:gd name="T11" fmla="*/ 87 h 143"/>
                  <a:gd name="T12" fmla="*/ 94 w 102"/>
                  <a:gd name="T13" fmla="*/ 75 h 143"/>
                  <a:gd name="T14" fmla="*/ 95 w 102"/>
                  <a:gd name="T15" fmla="*/ 42 h 143"/>
                  <a:gd name="T16" fmla="*/ 97 w 102"/>
                  <a:gd name="T17" fmla="*/ 42 h 143"/>
                  <a:gd name="T18" fmla="*/ 97 w 102"/>
                  <a:gd name="T19" fmla="*/ 0 h 143"/>
                  <a:gd name="T20" fmla="*/ 3 w 102"/>
                  <a:gd name="T21" fmla="*/ 0 h 143"/>
                  <a:gd name="T22" fmla="*/ 3 w 102"/>
                  <a:gd name="T23" fmla="*/ 42 h 143"/>
                  <a:gd name="T24" fmla="*/ 4 w 102"/>
                  <a:gd name="T25" fmla="*/ 42 h 143"/>
                  <a:gd name="T26" fmla="*/ 6 w 102"/>
                  <a:gd name="T27" fmla="*/ 76 h 143"/>
                  <a:gd name="T28" fmla="*/ 6 w 102"/>
                  <a:gd name="T29" fmla="*/ 76 h 143"/>
                  <a:gd name="T30" fmla="*/ 0 w 102"/>
                  <a:gd name="T31" fmla="*/ 87 h 143"/>
                  <a:gd name="T32" fmla="*/ 11 w 102"/>
                  <a:gd name="T33" fmla="*/ 77 h 143"/>
                  <a:gd name="T34" fmla="*/ 11 w 102"/>
                  <a:gd name="T35" fmla="*/ 77 h 143"/>
                  <a:gd name="T36" fmla="*/ 12 w 102"/>
                  <a:gd name="T37" fmla="*/ 77 h 143"/>
                  <a:gd name="T38" fmla="*/ 12 w 102"/>
                  <a:gd name="T39" fmla="*/ 74 h 143"/>
                  <a:gd name="T40" fmla="*/ 15 w 102"/>
                  <a:gd name="T41" fmla="*/ 57 h 143"/>
                  <a:gd name="T42" fmla="*/ 19 w 102"/>
                  <a:gd name="T43" fmla="*/ 52 h 143"/>
                  <a:gd name="T44" fmla="*/ 61 w 102"/>
                  <a:gd name="T45" fmla="*/ 42 h 143"/>
                  <a:gd name="T46" fmla="*/ 78 w 102"/>
                  <a:gd name="T47" fmla="*/ 42 h 143"/>
                  <a:gd name="T48" fmla="*/ 88 w 102"/>
                  <a:gd name="T49" fmla="*/ 78 h 143"/>
                  <a:gd name="T50" fmla="*/ 88 w 102"/>
                  <a:gd name="T51" fmla="*/ 78 h 143"/>
                  <a:gd name="T52" fmla="*/ 91 w 102"/>
                  <a:gd name="T53" fmla="*/ 77 h 143"/>
                  <a:gd name="T54" fmla="*/ 92 w 102"/>
                  <a:gd name="T55" fmla="*/ 77 h 143"/>
                  <a:gd name="T56" fmla="*/ 97 w 102"/>
                  <a:gd name="T57" fmla="*/ 80 h 143"/>
                  <a:gd name="T58" fmla="*/ 99 w 102"/>
                  <a:gd name="T59" fmla="*/ 87 h 143"/>
                  <a:gd name="T60" fmla="*/ 97 w 102"/>
                  <a:gd name="T61" fmla="*/ 95 h 143"/>
                  <a:gd name="T62" fmla="*/ 92 w 102"/>
                  <a:gd name="T63" fmla="*/ 98 h 143"/>
                  <a:gd name="T64" fmla="*/ 91 w 102"/>
                  <a:gd name="T65" fmla="*/ 98 h 143"/>
                  <a:gd name="T66" fmla="*/ 89 w 102"/>
                  <a:gd name="T67" fmla="*/ 98 h 143"/>
                  <a:gd name="T68" fmla="*/ 88 w 102"/>
                  <a:gd name="T69" fmla="*/ 100 h 143"/>
                  <a:gd name="T70" fmla="*/ 75 w 102"/>
                  <a:gd name="T71" fmla="*/ 129 h 143"/>
                  <a:gd name="T72" fmla="*/ 64 w 102"/>
                  <a:gd name="T73" fmla="*/ 137 h 143"/>
                  <a:gd name="T74" fmla="*/ 51 w 102"/>
                  <a:gd name="T75" fmla="*/ 140 h 143"/>
                  <a:gd name="T76" fmla="*/ 38 w 102"/>
                  <a:gd name="T77" fmla="*/ 137 h 143"/>
                  <a:gd name="T78" fmla="*/ 26 w 102"/>
                  <a:gd name="T79" fmla="*/ 129 h 143"/>
                  <a:gd name="T80" fmla="*/ 13 w 102"/>
                  <a:gd name="T81" fmla="*/ 100 h 143"/>
                  <a:gd name="T82" fmla="*/ 13 w 102"/>
                  <a:gd name="T83" fmla="*/ 98 h 143"/>
                  <a:gd name="T84" fmla="*/ 10 w 102"/>
                  <a:gd name="T85" fmla="*/ 98 h 143"/>
                  <a:gd name="T86" fmla="*/ 3 w 102"/>
                  <a:gd name="T87" fmla="*/ 87 h 143"/>
                  <a:gd name="T88" fmla="*/ 6 w 102"/>
                  <a:gd name="T89" fmla="*/ 80 h 143"/>
                  <a:gd name="T90" fmla="*/ 11 w 102"/>
                  <a:gd name="T91" fmla="*/ 77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2" h="143">
                    <a:moveTo>
                      <a:pt x="0" y="87"/>
                    </a:moveTo>
                    <a:cubicBezTo>
                      <a:pt x="0" y="95"/>
                      <a:pt x="5" y="100"/>
                      <a:pt x="10" y="101"/>
                    </a:cubicBezTo>
                    <a:cubicBezTo>
                      <a:pt x="14" y="125"/>
                      <a:pt x="31" y="143"/>
                      <a:pt x="51" y="143"/>
                    </a:cubicBezTo>
                    <a:cubicBezTo>
                      <a:pt x="71" y="143"/>
                      <a:pt x="87" y="125"/>
                      <a:pt x="91" y="101"/>
                    </a:cubicBezTo>
                    <a:cubicBezTo>
                      <a:pt x="92" y="101"/>
                      <a:pt x="92" y="101"/>
                      <a:pt x="92" y="101"/>
                    </a:cubicBezTo>
                    <a:cubicBezTo>
                      <a:pt x="98" y="101"/>
                      <a:pt x="102" y="95"/>
                      <a:pt x="102" y="87"/>
                    </a:cubicBezTo>
                    <a:cubicBezTo>
                      <a:pt x="102" y="81"/>
                      <a:pt x="99" y="76"/>
                      <a:pt x="94" y="75"/>
                    </a:cubicBezTo>
                    <a:cubicBezTo>
                      <a:pt x="94" y="75"/>
                      <a:pt x="99" y="57"/>
                      <a:pt x="95" y="42"/>
                    </a:cubicBezTo>
                    <a:cubicBezTo>
                      <a:pt x="97" y="42"/>
                      <a:pt x="97" y="42"/>
                      <a:pt x="97" y="42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0" y="58"/>
                      <a:pt x="6" y="76"/>
                      <a:pt x="6" y="76"/>
                    </a:cubicBezTo>
                    <a:cubicBezTo>
                      <a:pt x="6" y="76"/>
                      <a:pt x="6" y="76"/>
                      <a:pt x="6" y="76"/>
                    </a:cubicBezTo>
                    <a:cubicBezTo>
                      <a:pt x="3" y="78"/>
                      <a:pt x="0" y="82"/>
                      <a:pt x="0" y="87"/>
                    </a:cubicBezTo>
                    <a:close/>
                    <a:moveTo>
                      <a:pt x="11" y="77"/>
                    </a:moveTo>
                    <a:cubicBezTo>
                      <a:pt x="11" y="77"/>
                      <a:pt x="11" y="77"/>
                      <a:pt x="11" y="77"/>
                    </a:cubicBezTo>
                    <a:cubicBezTo>
                      <a:pt x="12" y="77"/>
                      <a:pt x="12" y="77"/>
                      <a:pt x="12" y="77"/>
                    </a:cubicBezTo>
                    <a:cubicBezTo>
                      <a:pt x="12" y="74"/>
                      <a:pt x="12" y="74"/>
                      <a:pt x="12" y="74"/>
                    </a:cubicBezTo>
                    <a:cubicBezTo>
                      <a:pt x="15" y="57"/>
                      <a:pt x="15" y="57"/>
                      <a:pt x="15" y="57"/>
                    </a:cubicBezTo>
                    <a:cubicBezTo>
                      <a:pt x="17" y="54"/>
                      <a:pt x="19" y="52"/>
                      <a:pt x="19" y="52"/>
                    </a:cubicBezTo>
                    <a:cubicBezTo>
                      <a:pt x="38" y="53"/>
                      <a:pt x="54" y="46"/>
                      <a:pt x="61" y="42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85" y="53"/>
                      <a:pt x="88" y="78"/>
                      <a:pt x="88" y="78"/>
                    </a:cubicBezTo>
                    <a:cubicBezTo>
                      <a:pt x="88" y="78"/>
                      <a:pt x="88" y="78"/>
                      <a:pt x="88" y="78"/>
                    </a:cubicBezTo>
                    <a:cubicBezTo>
                      <a:pt x="91" y="77"/>
                      <a:pt x="91" y="77"/>
                      <a:pt x="91" y="77"/>
                    </a:cubicBezTo>
                    <a:cubicBezTo>
                      <a:pt x="91" y="77"/>
                      <a:pt x="91" y="77"/>
                      <a:pt x="92" y="77"/>
                    </a:cubicBezTo>
                    <a:cubicBezTo>
                      <a:pt x="94" y="77"/>
                      <a:pt x="96" y="78"/>
                      <a:pt x="97" y="80"/>
                    </a:cubicBezTo>
                    <a:cubicBezTo>
                      <a:pt x="99" y="82"/>
                      <a:pt x="99" y="85"/>
                      <a:pt x="99" y="87"/>
                    </a:cubicBezTo>
                    <a:cubicBezTo>
                      <a:pt x="99" y="90"/>
                      <a:pt x="99" y="93"/>
                      <a:pt x="97" y="95"/>
                    </a:cubicBezTo>
                    <a:cubicBezTo>
                      <a:pt x="96" y="97"/>
                      <a:pt x="94" y="98"/>
                      <a:pt x="92" y="98"/>
                    </a:cubicBezTo>
                    <a:cubicBezTo>
                      <a:pt x="91" y="98"/>
                      <a:pt x="91" y="98"/>
                      <a:pt x="91" y="98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88" y="100"/>
                      <a:pt x="88" y="100"/>
                      <a:pt x="88" y="100"/>
                    </a:cubicBezTo>
                    <a:cubicBezTo>
                      <a:pt x="87" y="111"/>
                      <a:pt x="82" y="122"/>
                      <a:pt x="75" y="129"/>
                    </a:cubicBezTo>
                    <a:cubicBezTo>
                      <a:pt x="72" y="133"/>
                      <a:pt x="68" y="135"/>
                      <a:pt x="64" y="137"/>
                    </a:cubicBezTo>
                    <a:cubicBezTo>
                      <a:pt x="60" y="139"/>
                      <a:pt x="55" y="140"/>
                      <a:pt x="51" y="140"/>
                    </a:cubicBezTo>
                    <a:cubicBezTo>
                      <a:pt x="46" y="140"/>
                      <a:pt x="42" y="139"/>
                      <a:pt x="38" y="137"/>
                    </a:cubicBezTo>
                    <a:cubicBezTo>
                      <a:pt x="34" y="135"/>
                      <a:pt x="30" y="133"/>
                      <a:pt x="26" y="129"/>
                    </a:cubicBezTo>
                    <a:cubicBezTo>
                      <a:pt x="20" y="122"/>
                      <a:pt x="15" y="111"/>
                      <a:pt x="13" y="100"/>
                    </a:cubicBezTo>
                    <a:cubicBezTo>
                      <a:pt x="13" y="98"/>
                      <a:pt x="13" y="98"/>
                      <a:pt x="13" y="98"/>
                    </a:cubicBezTo>
                    <a:cubicBezTo>
                      <a:pt x="10" y="98"/>
                      <a:pt x="10" y="98"/>
                      <a:pt x="10" y="98"/>
                    </a:cubicBezTo>
                    <a:cubicBezTo>
                      <a:pt x="6" y="98"/>
                      <a:pt x="3" y="93"/>
                      <a:pt x="3" y="87"/>
                    </a:cubicBezTo>
                    <a:cubicBezTo>
                      <a:pt x="3" y="85"/>
                      <a:pt x="4" y="82"/>
                      <a:pt x="6" y="80"/>
                    </a:cubicBezTo>
                    <a:cubicBezTo>
                      <a:pt x="7" y="78"/>
                      <a:pt x="9" y="77"/>
                      <a:pt x="11" y="7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400"/>
              </a:p>
            </p:txBody>
          </p:sp>
          <p:sp>
            <p:nvSpPr>
              <p:cNvPr id="36" name="任意多边形: 形状 35"/>
              <p:cNvSpPr>
                <a:spLocks noEditPoints="1"/>
              </p:cNvSpPr>
              <p:nvPr/>
            </p:nvSpPr>
            <p:spPr bwMode="auto">
              <a:xfrm>
                <a:off x="506918" y="1137517"/>
                <a:ext cx="249238" cy="87313"/>
              </a:xfrm>
              <a:custGeom>
                <a:avLst/>
                <a:gdLst>
                  <a:gd name="T0" fmla="*/ 6 w 66"/>
                  <a:gd name="T1" fmla="*/ 23 h 23"/>
                  <a:gd name="T2" fmla="*/ 23 w 66"/>
                  <a:gd name="T3" fmla="*/ 23 h 23"/>
                  <a:gd name="T4" fmla="*/ 30 w 66"/>
                  <a:gd name="T5" fmla="*/ 17 h 23"/>
                  <a:gd name="T6" fmla="*/ 30 w 66"/>
                  <a:gd name="T7" fmla="*/ 11 h 23"/>
                  <a:gd name="T8" fmla="*/ 36 w 66"/>
                  <a:gd name="T9" fmla="*/ 11 h 23"/>
                  <a:gd name="T10" fmla="*/ 36 w 66"/>
                  <a:gd name="T11" fmla="*/ 17 h 23"/>
                  <a:gd name="T12" fmla="*/ 42 w 66"/>
                  <a:gd name="T13" fmla="*/ 23 h 23"/>
                  <a:gd name="T14" fmla="*/ 60 w 66"/>
                  <a:gd name="T15" fmla="*/ 23 h 23"/>
                  <a:gd name="T16" fmla="*/ 66 w 66"/>
                  <a:gd name="T17" fmla="*/ 17 h 23"/>
                  <a:gd name="T18" fmla="*/ 66 w 66"/>
                  <a:gd name="T19" fmla="*/ 6 h 23"/>
                  <a:gd name="T20" fmla="*/ 60 w 66"/>
                  <a:gd name="T21" fmla="*/ 0 h 23"/>
                  <a:gd name="T22" fmla="*/ 42 w 66"/>
                  <a:gd name="T23" fmla="*/ 0 h 23"/>
                  <a:gd name="T24" fmla="*/ 36 w 66"/>
                  <a:gd name="T25" fmla="*/ 6 h 23"/>
                  <a:gd name="T26" fmla="*/ 36 w 66"/>
                  <a:gd name="T27" fmla="*/ 10 h 23"/>
                  <a:gd name="T28" fmla="*/ 30 w 66"/>
                  <a:gd name="T29" fmla="*/ 10 h 23"/>
                  <a:gd name="T30" fmla="*/ 30 w 66"/>
                  <a:gd name="T31" fmla="*/ 6 h 23"/>
                  <a:gd name="T32" fmla="*/ 23 w 66"/>
                  <a:gd name="T33" fmla="*/ 0 h 23"/>
                  <a:gd name="T34" fmla="*/ 6 w 66"/>
                  <a:gd name="T35" fmla="*/ 0 h 23"/>
                  <a:gd name="T36" fmla="*/ 0 w 66"/>
                  <a:gd name="T37" fmla="*/ 6 h 23"/>
                  <a:gd name="T38" fmla="*/ 0 w 66"/>
                  <a:gd name="T39" fmla="*/ 17 h 23"/>
                  <a:gd name="T40" fmla="*/ 6 w 66"/>
                  <a:gd name="T41" fmla="*/ 23 h 23"/>
                  <a:gd name="T42" fmla="*/ 38 w 66"/>
                  <a:gd name="T43" fmla="*/ 6 h 23"/>
                  <a:gd name="T44" fmla="*/ 42 w 66"/>
                  <a:gd name="T45" fmla="*/ 1 h 23"/>
                  <a:gd name="T46" fmla="*/ 60 w 66"/>
                  <a:gd name="T47" fmla="*/ 1 h 23"/>
                  <a:gd name="T48" fmla="*/ 65 w 66"/>
                  <a:gd name="T49" fmla="*/ 6 h 23"/>
                  <a:gd name="T50" fmla="*/ 65 w 66"/>
                  <a:gd name="T51" fmla="*/ 17 h 23"/>
                  <a:gd name="T52" fmla="*/ 60 w 66"/>
                  <a:gd name="T53" fmla="*/ 22 h 23"/>
                  <a:gd name="T54" fmla="*/ 42 w 66"/>
                  <a:gd name="T55" fmla="*/ 22 h 23"/>
                  <a:gd name="T56" fmla="*/ 38 w 66"/>
                  <a:gd name="T57" fmla="*/ 17 h 23"/>
                  <a:gd name="T58" fmla="*/ 38 w 66"/>
                  <a:gd name="T59" fmla="*/ 6 h 23"/>
                  <a:gd name="T60" fmla="*/ 1 w 66"/>
                  <a:gd name="T61" fmla="*/ 6 h 23"/>
                  <a:gd name="T62" fmla="*/ 6 w 66"/>
                  <a:gd name="T63" fmla="*/ 1 h 23"/>
                  <a:gd name="T64" fmla="*/ 23 w 66"/>
                  <a:gd name="T65" fmla="*/ 1 h 23"/>
                  <a:gd name="T66" fmla="*/ 28 w 66"/>
                  <a:gd name="T67" fmla="*/ 6 h 23"/>
                  <a:gd name="T68" fmla="*/ 28 w 66"/>
                  <a:gd name="T69" fmla="*/ 10 h 23"/>
                  <a:gd name="T70" fmla="*/ 28 w 66"/>
                  <a:gd name="T71" fmla="*/ 11 h 23"/>
                  <a:gd name="T72" fmla="*/ 28 w 66"/>
                  <a:gd name="T73" fmla="*/ 17 h 23"/>
                  <a:gd name="T74" fmla="*/ 23 w 66"/>
                  <a:gd name="T75" fmla="*/ 22 h 23"/>
                  <a:gd name="T76" fmla="*/ 6 w 66"/>
                  <a:gd name="T77" fmla="*/ 22 h 23"/>
                  <a:gd name="T78" fmla="*/ 1 w 66"/>
                  <a:gd name="T79" fmla="*/ 17 h 23"/>
                  <a:gd name="T80" fmla="*/ 1 w 66"/>
                  <a:gd name="T8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6" h="23">
                    <a:moveTo>
                      <a:pt x="6" y="23"/>
                    </a:moveTo>
                    <a:cubicBezTo>
                      <a:pt x="23" y="23"/>
                      <a:pt x="23" y="23"/>
                      <a:pt x="23" y="23"/>
                    </a:cubicBezTo>
                    <a:cubicBezTo>
                      <a:pt x="27" y="23"/>
                      <a:pt x="30" y="20"/>
                      <a:pt x="30" y="17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20"/>
                      <a:pt x="39" y="23"/>
                      <a:pt x="42" y="23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63" y="23"/>
                      <a:pt x="66" y="20"/>
                      <a:pt x="66" y="17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2"/>
                      <a:pt x="63" y="0"/>
                      <a:pt x="60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39" y="0"/>
                      <a:pt x="36" y="2"/>
                      <a:pt x="36" y="6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30" y="10"/>
                      <a:pt x="30" y="10"/>
                      <a:pt x="30" y="10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0" y="2"/>
                      <a:pt x="27" y="0"/>
                      <a:pt x="2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2"/>
                      <a:pt x="0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2" y="23"/>
                      <a:pt x="6" y="23"/>
                    </a:cubicBezTo>
                    <a:close/>
                    <a:moveTo>
                      <a:pt x="38" y="6"/>
                    </a:moveTo>
                    <a:cubicBezTo>
                      <a:pt x="38" y="3"/>
                      <a:pt x="40" y="1"/>
                      <a:pt x="42" y="1"/>
                    </a:cubicBezTo>
                    <a:cubicBezTo>
                      <a:pt x="60" y="1"/>
                      <a:pt x="60" y="1"/>
                      <a:pt x="60" y="1"/>
                    </a:cubicBezTo>
                    <a:cubicBezTo>
                      <a:pt x="63" y="1"/>
                      <a:pt x="65" y="3"/>
                      <a:pt x="65" y="6"/>
                    </a:cubicBezTo>
                    <a:cubicBezTo>
                      <a:pt x="65" y="17"/>
                      <a:pt x="65" y="17"/>
                      <a:pt x="65" y="17"/>
                    </a:cubicBezTo>
                    <a:cubicBezTo>
                      <a:pt x="65" y="19"/>
                      <a:pt x="63" y="22"/>
                      <a:pt x="60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0" y="22"/>
                      <a:pt x="38" y="19"/>
                      <a:pt x="38" y="17"/>
                    </a:cubicBezTo>
                    <a:lnTo>
                      <a:pt x="38" y="6"/>
                    </a:lnTo>
                    <a:close/>
                    <a:moveTo>
                      <a:pt x="1" y="6"/>
                    </a:moveTo>
                    <a:cubicBezTo>
                      <a:pt x="1" y="3"/>
                      <a:pt x="3" y="1"/>
                      <a:pt x="6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6" y="1"/>
                      <a:pt x="28" y="3"/>
                      <a:pt x="28" y="6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9"/>
                      <a:pt x="26" y="22"/>
                      <a:pt x="23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3" y="22"/>
                      <a:pt x="1" y="19"/>
                      <a:pt x="1" y="17"/>
                    </a:cubicBezTo>
                    <a:lnTo>
                      <a:pt x="1" y="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400"/>
              </a:p>
            </p:txBody>
          </p:sp>
          <p:sp>
            <p:nvSpPr>
              <p:cNvPr id="37" name="矩形 36"/>
              <p:cNvSpPr>
                <a:spLocks noChangeArrowheads="1"/>
              </p:cNvSpPr>
              <p:nvPr/>
            </p:nvSpPr>
            <p:spPr bwMode="auto">
              <a:xfrm>
                <a:off x="406905" y="832717"/>
                <a:ext cx="457200" cy="3492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400"/>
              </a:p>
            </p:txBody>
          </p:sp>
          <p:sp>
            <p:nvSpPr>
              <p:cNvPr id="38" name="任意多边形: 形状 37"/>
              <p:cNvSpPr>
                <a:spLocks/>
              </p:cNvSpPr>
              <p:nvPr/>
            </p:nvSpPr>
            <p:spPr bwMode="auto">
              <a:xfrm>
                <a:off x="811718" y="878754"/>
                <a:ext cx="49213" cy="180975"/>
              </a:xfrm>
              <a:custGeom>
                <a:avLst/>
                <a:gdLst>
                  <a:gd name="T0" fmla="*/ 13 w 13"/>
                  <a:gd name="T1" fmla="*/ 42 h 48"/>
                  <a:gd name="T2" fmla="*/ 9 w 13"/>
                  <a:gd name="T3" fmla="*/ 32 h 48"/>
                  <a:gd name="T4" fmla="*/ 9 w 13"/>
                  <a:gd name="T5" fmla="*/ 0 h 48"/>
                  <a:gd name="T6" fmla="*/ 4 w 13"/>
                  <a:gd name="T7" fmla="*/ 0 h 48"/>
                  <a:gd name="T8" fmla="*/ 4 w 13"/>
                  <a:gd name="T9" fmla="*/ 32 h 48"/>
                  <a:gd name="T10" fmla="*/ 0 w 13"/>
                  <a:gd name="T11" fmla="*/ 42 h 48"/>
                  <a:gd name="T12" fmla="*/ 7 w 13"/>
                  <a:gd name="T13" fmla="*/ 48 h 48"/>
                  <a:gd name="T14" fmla="*/ 13 w 13"/>
                  <a:gd name="T15" fmla="*/ 4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" h="48">
                    <a:moveTo>
                      <a:pt x="13" y="42"/>
                    </a:moveTo>
                    <a:cubicBezTo>
                      <a:pt x="13" y="39"/>
                      <a:pt x="11" y="34"/>
                      <a:pt x="9" y="3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4"/>
                      <a:pt x="0" y="39"/>
                      <a:pt x="0" y="42"/>
                    </a:cubicBezTo>
                    <a:cubicBezTo>
                      <a:pt x="0" y="46"/>
                      <a:pt x="3" y="48"/>
                      <a:pt x="7" y="48"/>
                    </a:cubicBezTo>
                    <a:cubicBezTo>
                      <a:pt x="10" y="48"/>
                      <a:pt x="13" y="46"/>
                      <a:pt x="13" y="4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400"/>
              </a:p>
            </p:txBody>
          </p:sp>
        </p:grpSp>
      </p:grp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2865101" y="2551436"/>
            <a:ext cx="7089390" cy="101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di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6000" b="1" cap="all" dirty="0">
                <a:solidFill>
                  <a:srgbClr val="666E8A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  <a:cs typeface="Arial" panose="020B0604020202020204" pitchFamily="34" charset="0"/>
              </a:rPr>
              <a:t>一句话生成三维模型</a:t>
            </a:r>
            <a:endParaRPr lang="en-US" altLang="zh-CN" sz="6000" b="1" cap="all" dirty="0">
              <a:solidFill>
                <a:srgbClr val="666E8A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  <a:cs typeface="Arial" panose="020B0604020202020204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608050" y="2072886"/>
            <a:ext cx="8335010" cy="473528"/>
            <a:chOff x="2242291" y="2192806"/>
            <a:chExt cx="8335010" cy="473528"/>
          </a:xfrm>
        </p:grpSpPr>
        <p:sp>
          <p:nvSpPr>
            <p:cNvPr id="56" name="任意多边形: 形状 55"/>
            <p:cNvSpPr>
              <a:spLocks noEditPoints="1"/>
            </p:cNvSpPr>
            <p:nvPr/>
          </p:nvSpPr>
          <p:spPr bwMode="auto">
            <a:xfrm>
              <a:off x="3719125" y="2281707"/>
              <a:ext cx="459841" cy="345509"/>
            </a:xfrm>
            <a:custGeom>
              <a:avLst/>
              <a:gdLst>
                <a:gd name="T0" fmla="*/ 40 w 192"/>
                <a:gd name="T1" fmla="*/ 118 h 144"/>
                <a:gd name="T2" fmla="*/ 40 w 192"/>
                <a:gd name="T3" fmla="*/ 118 h 144"/>
                <a:gd name="T4" fmla="*/ 56 w 192"/>
                <a:gd name="T5" fmla="*/ 116 h 144"/>
                <a:gd name="T6" fmla="*/ 97 w 192"/>
                <a:gd name="T7" fmla="*/ 137 h 144"/>
                <a:gd name="T8" fmla="*/ 99 w 192"/>
                <a:gd name="T9" fmla="*/ 137 h 144"/>
                <a:gd name="T10" fmla="*/ 140 w 192"/>
                <a:gd name="T11" fmla="*/ 116 h 144"/>
                <a:gd name="T12" fmla="*/ 156 w 192"/>
                <a:gd name="T13" fmla="*/ 118 h 144"/>
                <a:gd name="T14" fmla="*/ 156 w 192"/>
                <a:gd name="T15" fmla="*/ 118 h 144"/>
                <a:gd name="T16" fmla="*/ 156 w 192"/>
                <a:gd name="T17" fmla="*/ 70 h 144"/>
                <a:gd name="T18" fmla="*/ 96 w 192"/>
                <a:gd name="T19" fmla="*/ 98 h 144"/>
                <a:gd name="T20" fmla="*/ 40 w 192"/>
                <a:gd name="T21" fmla="*/ 72 h 144"/>
                <a:gd name="T22" fmla="*/ 40 w 192"/>
                <a:gd name="T23" fmla="*/ 118 h 144"/>
                <a:gd name="T24" fmla="*/ 96 w 192"/>
                <a:gd name="T25" fmla="*/ 0 h 144"/>
                <a:gd name="T26" fmla="*/ 0 w 192"/>
                <a:gd name="T27" fmla="*/ 44 h 144"/>
                <a:gd name="T28" fmla="*/ 96 w 192"/>
                <a:gd name="T29" fmla="*/ 88 h 144"/>
                <a:gd name="T30" fmla="*/ 192 w 192"/>
                <a:gd name="T31" fmla="*/ 44 h 144"/>
                <a:gd name="T32" fmla="*/ 96 w 192"/>
                <a:gd name="T33" fmla="*/ 0 h 144"/>
                <a:gd name="T34" fmla="*/ 8 w 192"/>
                <a:gd name="T35" fmla="*/ 56 h 144"/>
                <a:gd name="T36" fmla="*/ 4 w 192"/>
                <a:gd name="T37" fmla="*/ 104 h 144"/>
                <a:gd name="T38" fmla="*/ 12 w 192"/>
                <a:gd name="T39" fmla="*/ 104 h 144"/>
                <a:gd name="T40" fmla="*/ 12 w 192"/>
                <a:gd name="T41" fmla="*/ 58 h 144"/>
                <a:gd name="T42" fmla="*/ 8 w 192"/>
                <a:gd name="T43" fmla="*/ 56 h 144"/>
                <a:gd name="T44" fmla="*/ 16 w 192"/>
                <a:gd name="T45" fmla="*/ 144 h 144"/>
                <a:gd name="T46" fmla="*/ 9 w 192"/>
                <a:gd name="T47" fmla="*/ 124 h 144"/>
                <a:gd name="T48" fmla="*/ 16 w 192"/>
                <a:gd name="T49" fmla="*/ 116 h 144"/>
                <a:gd name="T50" fmla="*/ 8 w 192"/>
                <a:gd name="T51" fmla="*/ 108 h 144"/>
                <a:gd name="T52" fmla="*/ 0 w 192"/>
                <a:gd name="T53" fmla="*/ 116 h 144"/>
                <a:gd name="T54" fmla="*/ 7 w 192"/>
                <a:gd name="T55" fmla="*/ 124 h 144"/>
                <a:gd name="T56" fmla="*/ 0 w 192"/>
                <a:gd name="T57" fmla="*/ 144 h 144"/>
                <a:gd name="T58" fmla="*/ 16 w 192"/>
                <a:gd name="T59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2" h="144">
                  <a:moveTo>
                    <a:pt x="40" y="118"/>
                  </a:moveTo>
                  <a:cubicBezTo>
                    <a:pt x="40" y="118"/>
                    <a:pt x="40" y="118"/>
                    <a:pt x="40" y="118"/>
                  </a:cubicBezTo>
                  <a:cubicBezTo>
                    <a:pt x="45" y="116"/>
                    <a:pt x="50" y="116"/>
                    <a:pt x="56" y="116"/>
                  </a:cubicBezTo>
                  <a:cubicBezTo>
                    <a:pt x="72" y="116"/>
                    <a:pt x="91" y="127"/>
                    <a:pt x="97" y="137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5" y="127"/>
                    <a:pt x="123" y="116"/>
                    <a:pt x="140" y="116"/>
                  </a:cubicBezTo>
                  <a:cubicBezTo>
                    <a:pt x="145" y="116"/>
                    <a:pt x="151" y="116"/>
                    <a:pt x="156" y="118"/>
                  </a:cubicBezTo>
                  <a:cubicBezTo>
                    <a:pt x="156" y="118"/>
                    <a:pt x="156" y="118"/>
                    <a:pt x="156" y="118"/>
                  </a:cubicBezTo>
                  <a:cubicBezTo>
                    <a:pt x="156" y="70"/>
                    <a:pt x="156" y="70"/>
                    <a:pt x="156" y="70"/>
                  </a:cubicBezTo>
                  <a:cubicBezTo>
                    <a:pt x="96" y="98"/>
                    <a:pt x="96" y="98"/>
                    <a:pt x="96" y="98"/>
                  </a:cubicBezTo>
                  <a:cubicBezTo>
                    <a:pt x="40" y="72"/>
                    <a:pt x="40" y="72"/>
                    <a:pt x="40" y="72"/>
                  </a:cubicBezTo>
                  <a:lnTo>
                    <a:pt x="40" y="118"/>
                  </a:lnTo>
                  <a:close/>
                  <a:moveTo>
                    <a:pt x="96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192" y="44"/>
                    <a:pt x="192" y="44"/>
                    <a:pt x="192" y="44"/>
                  </a:cubicBezTo>
                  <a:lnTo>
                    <a:pt x="96" y="0"/>
                  </a:lnTo>
                  <a:close/>
                  <a:moveTo>
                    <a:pt x="8" y="56"/>
                  </a:moveTo>
                  <a:cubicBezTo>
                    <a:pt x="4" y="104"/>
                    <a:pt x="4" y="104"/>
                    <a:pt x="4" y="104"/>
                  </a:cubicBezTo>
                  <a:cubicBezTo>
                    <a:pt x="12" y="104"/>
                    <a:pt x="12" y="104"/>
                    <a:pt x="12" y="104"/>
                  </a:cubicBezTo>
                  <a:cubicBezTo>
                    <a:pt x="12" y="58"/>
                    <a:pt x="12" y="58"/>
                    <a:pt x="12" y="58"/>
                  </a:cubicBezTo>
                  <a:lnTo>
                    <a:pt x="8" y="56"/>
                  </a:lnTo>
                  <a:close/>
                  <a:moveTo>
                    <a:pt x="16" y="144"/>
                  </a:moveTo>
                  <a:cubicBezTo>
                    <a:pt x="9" y="124"/>
                    <a:pt x="9" y="124"/>
                    <a:pt x="9" y="124"/>
                  </a:cubicBezTo>
                  <a:cubicBezTo>
                    <a:pt x="13" y="123"/>
                    <a:pt x="16" y="120"/>
                    <a:pt x="16" y="116"/>
                  </a:cubicBezTo>
                  <a:cubicBezTo>
                    <a:pt x="16" y="111"/>
                    <a:pt x="12" y="108"/>
                    <a:pt x="8" y="108"/>
                  </a:cubicBezTo>
                  <a:cubicBezTo>
                    <a:pt x="3" y="108"/>
                    <a:pt x="0" y="111"/>
                    <a:pt x="0" y="116"/>
                  </a:cubicBezTo>
                  <a:cubicBezTo>
                    <a:pt x="0" y="120"/>
                    <a:pt x="3" y="123"/>
                    <a:pt x="7" y="124"/>
                  </a:cubicBezTo>
                  <a:cubicBezTo>
                    <a:pt x="0" y="144"/>
                    <a:pt x="0" y="144"/>
                    <a:pt x="0" y="144"/>
                  </a:cubicBezTo>
                  <a:lnTo>
                    <a:pt x="16" y="144"/>
                  </a:lnTo>
                  <a:close/>
                </a:path>
              </a:pathLst>
            </a:custGeom>
            <a:solidFill>
              <a:srgbClr val="3C4750"/>
            </a:solidFill>
            <a:ln>
              <a:noFill/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矩形 61"/>
            <p:cNvSpPr>
              <a:spLocks noChangeArrowheads="1"/>
            </p:cNvSpPr>
            <p:nvPr/>
          </p:nvSpPr>
          <p:spPr bwMode="auto">
            <a:xfrm>
              <a:off x="2242291" y="2192806"/>
              <a:ext cx="8335010" cy="473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defRPr>
              </a:lvl9pPr>
            </a:lstStyle>
            <a:p>
              <a:pPr algn="ctr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2800" dirty="0">
                  <a:solidFill>
                    <a:srgbClr val="3C4750"/>
                  </a:solidFill>
                  <a:effectLst>
                    <a:outerShdw blurRad="25400" dist="25400" dir="2700000" algn="tl">
                      <a:srgbClr val="000000">
                        <a:alpha val="25000"/>
                      </a:srgbClr>
                    </a:outerShdw>
                  </a:effectLst>
                  <a:latin typeface="思源黑体" panose="020B0500000000000000" pitchFamily="34" charset="-122"/>
                  <a:ea typeface="思源黑体" panose="020B0500000000000000" pitchFamily="34" charset="-122"/>
                  <a:cs typeface="Arial" panose="020B0604020202020204" pitchFamily="34" charset="0"/>
                </a:rPr>
                <a:t>技术原型实验报告</a:t>
              </a:r>
              <a:endParaRPr lang="en-US" altLang="zh-CN" sz="2800" dirty="0">
                <a:solidFill>
                  <a:srgbClr val="3C475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54" name="图片 5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7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844561" y="-140443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2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0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  <p:bldLst>
      <p:bldP spid="21" grpId="0" animBg="1"/>
      <p:bldP spid="22" grpId="0" animBg="1"/>
      <p:bldP spid="29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198991DD-920A-4ADD-9751-BC522B92CC3D}"/>
              </a:ext>
            </a:extLst>
          </p:cNvPr>
          <p:cNvSpPr/>
          <p:nvPr/>
        </p:nvSpPr>
        <p:spPr>
          <a:xfrm>
            <a:off x="4330833" y="413644"/>
            <a:ext cx="3530333" cy="767452"/>
          </a:xfrm>
          <a:prstGeom prst="rect">
            <a:avLst/>
          </a:prstGeom>
          <a:solidFill>
            <a:srgbClr val="666E8A"/>
          </a:solidFill>
          <a:ln>
            <a:noFill/>
          </a:ln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3600" b="1" spc="300" dirty="0">
                <a:solidFill>
                  <a:prstClr val="white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CONTENT</a:t>
            </a:r>
            <a:endParaRPr lang="zh-CN" altLang="en-US" sz="3600" b="1" spc="300" dirty="0">
              <a:solidFill>
                <a:prstClr val="white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131" name="组合 130"/>
          <p:cNvGrpSpPr/>
          <p:nvPr/>
        </p:nvGrpSpPr>
        <p:grpSpPr>
          <a:xfrm>
            <a:off x="334963" y="778256"/>
            <a:ext cx="11522075" cy="5678798"/>
            <a:chOff x="334963" y="778256"/>
            <a:chExt cx="11522075" cy="5678798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733C8B0-7424-483B-AA8D-9421236ED938}"/>
                </a:ext>
              </a:extLst>
            </p:cNvPr>
            <p:cNvCxnSpPr>
              <a:cxnSpLocks/>
            </p:cNvCxnSpPr>
            <p:nvPr/>
          </p:nvCxnSpPr>
          <p:spPr>
            <a:xfrm>
              <a:off x="391345" y="816909"/>
              <a:ext cx="0" cy="5636279"/>
            </a:xfrm>
            <a:prstGeom prst="line">
              <a:avLst/>
            </a:prstGeom>
            <a:ln w="107950" cmpd="thickThin">
              <a:solidFill>
                <a:srgbClr val="3C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AF2BF97-963D-49FA-B504-0D08C1CF6C0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2955" y="816909"/>
              <a:ext cx="0" cy="5636279"/>
            </a:xfrm>
            <a:prstGeom prst="line">
              <a:avLst/>
            </a:prstGeom>
            <a:ln w="107950" cmpd="thickThin">
              <a:solidFill>
                <a:srgbClr val="3C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CD230534-0055-45B5-8830-A252AB992356}"/>
                </a:ext>
              </a:extLst>
            </p:cNvPr>
            <p:cNvCxnSpPr>
              <a:cxnSpLocks/>
            </p:cNvCxnSpPr>
            <p:nvPr/>
          </p:nvCxnSpPr>
          <p:spPr>
            <a:xfrm>
              <a:off x="495235" y="6457054"/>
              <a:ext cx="11245590" cy="0"/>
            </a:xfrm>
            <a:prstGeom prst="line">
              <a:avLst/>
            </a:prstGeom>
            <a:ln w="28575">
              <a:solidFill>
                <a:srgbClr val="3C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A917371-1A1C-4F88-BF23-240BD7EB8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963" y="778256"/>
              <a:ext cx="3016735" cy="0"/>
            </a:xfrm>
            <a:prstGeom prst="line">
              <a:avLst/>
            </a:prstGeom>
            <a:ln w="107950" cmpd="thickThin">
              <a:solidFill>
                <a:srgbClr val="3C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E325668-D01B-40FA-8AEA-F521398D5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40303" y="778256"/>
              <a:ext cx="3016735" cy="0"/>
            </a:xfrm>
            <a:prstGeom prst="line">
              <a:avLst/>
            </a:prstGeom>
            <a:ln w="107950" cmpd="thickThin">
              <a:solidFill>
                <a:srgbClr val="3C47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组合 105"/>
          <p:cNvGrpSpPr/>
          <p:nvPr/>
        </p:nvGrpSpPr>
        <p:grpSpPr>
          <a:xfrm>
            <a:off x="1710319" y="1996170"/>
            <a:ext cx="3804028" cy="1033507"/>
            <a:chOff x="897426" y="2851251"/>
            <a:chExt cx="3804028" cy="1033507"/>
          </a:xfrm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63" name="矩形 62"/>
            <p:cNvSpPr/>
            <p:nvPr/>
          </p:nvSpPr>
          <p:spPr>
            <a:xfrm>
              <a:off x="4600896" y="2851251"/>
              <a:ext cx="100557" cy="1008236"/>
            </a:xfrm>
            <a:prstGeom prst="rect">
              <a:avLst/>
            </a:prstGeom>
            <a:solidFill>
              <a:srgbClr val="3C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pic>
          <p:nvPicPr>
            <p:cNvPr id="105" name="图片 10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191" y="2930010"/>
              <a:ext cx="1094712" cy="954748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5F787CE-05DF-4811-8DE0-F5B34A0793DB}"/>
                </a:ext>
              </a:extLst>
            </p:cNvPr>
            <p:cNvSpPr txBox="1"/>
            <p:nvPr/>
          </p:nvSpPr>
          <p:spPr>
            <a:xfrm>
              <a:off x="1867190" y="3139550"/>
              <a:ext cx="27650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项目中使用的工具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58DD6863-521A-402E-8003-61FE350638E4}"/>
                </a:ext>
              </a:extLst>
            </p:cNvPr>
            <p:cNvSpPr txBox="1"/>
            <p:nvPr/>
          </p:nvSpPr>
          <p:spPr>
            <a:xfrm>
              <a:off x="1139889" y="3134399"/>
              <a:ext cx="807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897426" y="2851251"/>
              <a:ext cx="3804028" cy="1008236"/>
            </a:xfrm>
            <a:prstGeom prst="rect">
              <a:avLst/>
            </a:prstGeom>
            <a:noFill/>
            <a:ln w="25400">
              <a:solidFill>
                <a:srgbClr val="3C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838539" y="1996170"/>
            <a:ext cx="3911876" cy="1033507"/>
            <a:chOff x="897426" y="2851251"/>
            <a:chExt cx="3911876" cy="1033507"/>
          </a:xfrm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87" name="矩形 86"/>
            <p:cNvSpPr/>
            <p:nvPr/>
          </p:nvSpPr>
          <p:spPr>
            <a:xfrm>
              <a:off x="4600896" y="2851251"/>
              <a:ext cx="100557" cy="1008236"/>
            </a:xfrm>
            <a:prstGeom prst="rect">
              <a:avLst/>
            </a:prstGeom>
            <a:solidFill>
              <a:srgbClr val="3C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191" y="2930010"/>
              <a:ext cx="1094712" cy="954748"/>
            </a:xfrm>
            <a:prstGeom prst="rect">
              <a:avLst/>
            </a:prstGeom>
          </p:spPr>
        </p:pic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D5F787CE-05DF-4811-8DE0-F5B34A0793DB}"/>
                </a:ext>
              </a:extLst>
            </p:cNvPr>
            <p:cNvSpPr txBox="1"/>
            <p:nvPr/>
          </p:nvSpPr>
          <p:spPr>
            <a:xfrm>
              <a:off x="1792567" y="3124536"/>
              <a:ext cx="30167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研究步骤和实际情况</a:t>
              </a: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8DD6863-521A-402E-8003-61FE350638E4}"/>
                </a:ext>
              </a:extLst>
            </p:cNvPr>
            <p:cNvSpPr txBox="1"/>
            <p:nvPr/>
          </p:nvSpPr>
          <p:spPr>
            <a:xfrm>
              <a:off x="1139889" y="3134399"/>
              <a:ext cx="807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897426" y="2851251"/>
              <a:ext cx="3804028" cy="1008236"/>
            </a:xfrm>
            <a:prstGeom prst="rect">
              <a:avLst/>
            </a:prstGeom>
            <a:noFill/>
            <a:ln w="25400">
              <a:solidFill>
                <a:srgbClr val="3C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1710319" y="3374882"/>
            <a:ext cx="3804028" cy="1033507"/>
            <a:chOff x="897426" y="2851251"/>
            <a:chExt cx="3804028" cy="1033507"/>
          </a:xfrm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93" name="矩形 92"/>
            <p:cNvSpPr/>
            <p:nvPr/>
          </p:nvSpPr>
          <p:spPr>
            <a:xfrm>
              <a:off x="4600896" y="2851251"/>
              <a:ext cx="100557" cy="1008236"/>
            </a:xfrm>
            <a:prstGeom prst="rect">
              <a:avLst/>
            </a:prstGeom>
            <a:solidFill>
              <a:srgbClr val="3C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pic>
          <p:nvPicPr>
            <p:cNvPr id="94" name="图片 93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191" y="2930010"/>
              <a:ext cx="1094712" cy="954748"/>
            </a:xfrm>
            <a:prstGeom prst="rect">
              <a:avLst/>
            </a:prstGeom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D5F787CE-05DF-4811-8DE0-F5B34A0793DB}"/>
                </a:ext>
              </a:extLst>
            </p:cNvPr>
            <p:cNvSpPr txBox="1"/>
            <p:nvPr/>
          </p:nvSpPr>
          <p:spPr>
            <a:xfrm>
              <a:off x="2008403" y="3150679"/>
              <a:ext cx="2616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最终结果呈现</a:t>
              </a: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8DD6863-521A-402E-8003-61FE350638E4}"/>
                </a:ext>
              </a:extLst>
            </p:cNvPr>
            <p:cNvSpPr txBox="1"/>
            <p:nvPr/>
          </p:nvSpPr>
          <p:spPr>
            <a:xfrm>
              <a:off x="1139889" y="3134399"/>
              <a:ext cx="807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897426" y="2851251"/>
              <a:ext cx="3804028" cy="1008236"/>
            </a:xfrm>
            <a:prstGeom prst="rect">
              <a:avLst/>
            </a:prstGeom>
            <a:noFill/>
            <a:ln w="25400">
              <a:solidFill>
                <a:srgbClr val="3C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838539" y="3374882"/>
            <a:ext cx="3804028" cy="1033507"/>
            <a:chOff x="897426" y="2851251"/>
            <a:chExt cx="3804028" cy="1033507"/>
          </a:xfrm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99" name="矩形 98"/>
            <p:cNvSpPr/>
            <p:nvPr/>
          </p:nvSpPr>
          <p:spPr>
            <a:xfrm>
              <a:off x="4600896" y="2851251"/>
              <a:ext cx="100557" cy="1008236"/>
            </a:xfrm>
            <a:prstGeom prst="rect">
              <a:avLst/>
            </a:prstGeom>
            <a:solidFill>
              <a:srgbClr val="3C47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191" y="2930010"/>
              <a:ext cx="1094712" cy="954748"/>
            </a:xfrm>
            <a:prstGeom prst="rect">
              <a:avLst/>
            </a:prstGeom>
          </p:spPr>
        </p:pic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D5F787CE-05DF-4811-8DE0-F5B34A0793DB}"/>
                </a:ext>
              </a:extLst>
            </p:cNvPr>
            <p:cNvSpPr txBox="1"/>
            <p:nvPr/>
          </p:nvSpPr>
          <p:spPr>
            <a:xfrm>
              <a:off x="2041653" y="3150679"/>
              <a:ext cx="2616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sz="2400" dirty="0">
                  <a:solidFill>
                    <a:prstClr val="black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实验反思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58DD6863-521A-402E-8003-61FE350638E4}"/>
                </a:ext>
              </a:extLst>
            </p:cNvPr>
            <p:cNvSpPr txBox="1"/>
            <p:nvPr/>
          </p:nvSpPr>
          <p:spPr>
            <a:xfrm>
              <a:off x="1139889" y="3134399"/>
              <a:ext cx="807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en-US" altLang="zh-CN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897426" y="2851251"/>
              <a:ext cx="3804028" cy="1008236"/>
            </a:xfrm>
            <a:prstGeom prst="rect">
              <a:avLst/>
            </a:prstGeom>
            <a:noFill/>
            <a:ln w="25400">
              <a:solidFill>
                <a:srgbClr val="3C47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4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BC105C-CA39-4EA9-A5C0-27444351B7DE}"/>
              </a:ext>
            </a:extLst>
          </p:cNvPr>
          <p:cNvSpPr/>
          <p:nvPr/>
        </p:nvSpPr>
        <p:spPr>
          <a:xfrm>
            <a:off x="1791232" y="2704755"/>
            <a:ext cx="1619250" cy="1490436"/>
          </a:xfrm>
          <a:prstGeom prst="rect">
            <a:avLst/>
          </a:prstGeom>
          <a:solidFill>
            <a:srgbClr val="666E8A"/>
          </a:solidFill>
          <a:ln w="19050">
            <a:solidFill>
              <a:srgbClr val="666E8A"/>
            </a:solidFill>
            <a:prstDash val="sysDash"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006E0-01D9-4172-B66E-3EC74AE862C2}"/>
              </a:ext>
            </a:extLst>
          </p:cNvPr>
          <p:cNvSpPr txBox="1"/>
          <p:nvPr/>
        </p:nvSpPr>
        <p:spPr>
          <a:xfrm>
            <a:off x="4446550" y="3207964"/>
            <a:ext cx="5954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zh-CN" altLang="en-US" sz="4400" b="1" dirty="0">
                <a:solidFill>
                  <a:srgbClr val="3C475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项目中使用的工具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405E7F2-AE24-442C-835A-C03020E6CC93}"/>
              </a:ext>
            </a:extLst>
          </p:cNvPr>
          <p:cNvCxnSpPr>
            <a:cxnSpLocks/>
          </p:cNvCxnSpPr>
          <p:nvPr/>
        </p:nvCxnSpPr>
        <p:spPr>
          <a:xfrm>
            <a:off x="343192" y="426595"/>
            <a:ext cx="11466857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0A14302-A920-4239-ABC7-0D9FDF0BD251}"/>
              </a:ext>
            </a:extLst>
          </p:cNvPr>
          <p:cNvSpPr/>
          <p:nvPr/>
        </p:nvSpPr>
        <p:spPr>
          <a:xfrm>
            <a:off x="8279716" y="416294"/>
            <a:ext cx="3530333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FEA713E-0E0B-4041-9714-AE06AB77E284}"/>
              </a:ext>
            </a:extLst>
          </p:cNvPr>
          <p:cNvCxnSpPr>
            <a:cxnSpLocks/>
          </p:cNvCxnSpPr>
          <p:nvPr/>
        </p:nvCxnSpPr>
        <p:spPr>
          <a:xfrm flipV="1">
            <a:off x="343192" y="416294"/>
            <a:ext cx="0" cy="6036337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F26945A-197A-4378-950B-2D044CA0447A}"/>
              </a:ext>
            </a:extLst>
          </p:cNvPr>
          <p:cNvCxnSpPr>
            <a:cxnSpLocks/>
          </p:cNvCxnSpPr>
          <p:nvPr/>
        </p:nvCxnSpPr>
        <p:spPr>
          <a:xfrm>
            <a:off x="566372" y="6465843"/>
            <a:ext cx="11020498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09195D5-376F-433A-8451-B5DE75F67F78}"/>
              </a:ext>
            </a:extLst>
          </p:cNvPr>
          <p:cNvSpPr/>
          <p:nvPr/>
        </p:nvSpPr>
        <p:spPr>
          <a:xfrm>
            <a:off x="566372" y="6298051"/>
            <a:ext cx="2288696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D40A66A-185F-443F-AFEA-B338493B866A}"/>
              </a:ext>
            </a:extLst>
          </p:cNvPr>
          <p:cNvCxnSpPr>
            <a:cxnSpLocks/>
          </p:cNvCxnSpPr>
          <p:nvPr/>
        </p:nvCxnSpPr>
        <p:spPr>
          <a:xfrm flipV="1">
            <a:off x="3790739" y="4188593"/>
            <a:ext cx="6852277" cy="1"/>
          </a:xfrm>
          <a:prstGeom prst="line">
            <a:avLst/>
          </a:prstGeom>
          <a:ln w="190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99C39CF-7A99-4E05-A3DD-3BF8D617D4E7}"/>
              </a:ext>
            </a:extLst>
          </p:cNvPr>
          <p:cNvCxnSpPr>
            <a:cxnSpLocks/>
          </p:cNvCxnSpPr>
          <p:nvPr/>
        </p:nvCxnSpPr>
        <p:spPr>
          <a:xfrm>
            <a:off x="11810049" y="719528"/>
            <a:ext cx="0" cy="5746315"/>
          </a:xfrm>
          <a:prstGeom prst="line">
            <a:avLst/>
          </a:prstGeom>
          <a:ln w="1079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221677" y="3164809"/>
            <a:ext cx="12137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20180" y="2824827"/>
            <a:ext cx="1084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8923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4" grpId="0" animBg="1"/>
      <p:bldP spid="37" grpId="0" animBg="1"/>
      <p:bldP spid="12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工具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75138" y="3695890"/>
            <a:ext cx="11254154" cy="0"/>
          </a:xfrm>
          <a:prstGeom prst="line">
            <a:avLst/>
          </a:prstGeom>
          <a:ln w="12700">
            <a:solidFill>
              <a:srgbClr val="433D3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017929" y="1952260"/>
            <a:ext cx="2431954" cy="860569"/>
            <a:chOff x="2017929" y="1952260"/>
            <a:chExt cx="2431954" cy="860569"/>
          </a:xfrm>
        </p:grpSpPr>
        <p:sp>
          <p:nvSpPr>
            <p:cNvPr id="13" name="对话气泡: 圆角矩形 12"/>
            <p:cNvSpPr/>
            <p:nvPr/>
          </p:nvSpPr>
          <p:spPr>
            <a:xfrm>
              <a:off x="2017929" y="1952260"/>
              <a:ext cx="2431954" cy="860569"/>
            </a:xfrm>
            <a:prstGeom prst="wedgeRoundRectCallout">
              <a:avLst>
                <a:gd name="adj1" fmla="val -23243"/>
                <a:gd name="adj2" fmla="val 81555"/>
                <a:gd name="adj3" fmla="val 16667"/>
              </a:avLst>
            </a:prstGeom>
            <a:solidFill>
              <a:srgbClr val="666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095233" y="2165458"/>
              <a:ext cx="2253331" cy="4035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豆包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386674" y="1952110"/>
            <a:ext cx="3040923" cy="860569"/>
            <a:chOff x="6945682" y="1952260"/>
            <a:chExt cx="3040923" cy="860569"/>
          </a:xfrm>
        </p:grpSpPr>
        <p:sp>
          <p:nvSpPr>
            <p:cNvPr id="23" name="对话气泡: 圆角矩形 22"/>
            <p:cNvSpPr/>
            <p:nvPr/>
          </p:nvSpPr>
          <p:spPr>
            <a:xfrm>
              <a:off x="6945682" y="1952260"/>
              <a:ext cx="3040923" cy="860569"/>
            </a:xfrm>
            <a:prstGeom prst="wedgeRoundRectCallout">
              <a:avLst>
                <a:gd name="adj1" fmla="val -23243"/>
                <a:gd name="adj2" fmla="val 81555"/>
                <a:gd name="adj3" fmla="val 16667"/>
              </a:avLst>
            </a:prstGeom>
            <a:solidFill>
              <a:srgbClr val="444D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095995" y="2165458"/>
              <a:ext cx="2789291" cy="40562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r">
                <a:defRPr sz="260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US" altLang="zh-CN" sz="24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Traecode.cn</a:t>
              </a:r>
              <a:r>
                <a:rPr lang="zh-CN" altLang="en-US" sz="2400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，扣子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999520" y="4091697"/>
            <a:ext cx="2963606" cy="22986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负责文本分析、需求拆解与方案迭代。接收赛题任务，将赛题内容通俗化解读；结合实验思路生成初步方案，通过多轮问答逐步细化方案，解释专业名词并提供多套方案对比；最终输出适配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462838" y="3419397"/>
            <a:ext cx="511892" cy="511890"/>
            <a:chOff x="2193209" y="3360782"/>
            <a:chExt cx="511892" cy="511890"/>
          </a:xfrm>
        </p:grpSpPr>
        <p:sp>
          <p:nvSpPr>
            <p:cNvPr id="12" name="椭圆 11"/>
            <p:cNvSpPr/>
            <p:nvPr/>
          </p:nvSpPr>
          <p:spPr>
            <a:xfrm>
              <a:off x="2193209" y="3360782"/>
              <a:ext cx="511892" cy="511890"/>
            </a:xfrm>
            <a:prstGeom prst="ellipse">
              <a:avLst/>
            </a:prstGeom>
            <a:solidFill>
              <a:srgbClr val="666E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/>
            <p:cNvSpPr>
              <a:spLocks noEditPoints="1"/>
            </p:cNvSpPr>
            <p:nvPr/>
          </p:nvSpPr>
          <p:spPr bwMode="auto">
            <a:xfrm>
              <a:off x="2309810" y="3463156"/>
              <a:ext cx="312249" cy="334972"/>
            </a:xfrm>
            <a:custGeom>
              <a:avLst/>
              <a:gdLst>
                <a:gd name="T0" fmla="*/ 2147483646 w 812"/>
                <a:gd name="T1" fmla="*/ 0 h 858"/>
                <a:gd name="T2" fmla="*/ 2147483646 w 812"/>
                <a:gd name="T3" fmla="*/ 2147483646 h 858"/>
                <a:gd name="T4" fmla="*/ 2147483646 w 812"/>
                <a:gd name="T5" fmla="*/ 2147483646 h 858"/>
                <a:gd name="T6" fmla="*/ 2147483646 w 812"/>
                <a:gd name="T7" fmla="*/ 2147483646 h 858"/>
                <a:gd name="T8" fmla="*/ 2147483646 w 812"/>
                <a:gd name="T9" fmla="*/ 2147483646 h 858"/>
                <a:gd name="T10" fmla="*/ 2147483646 w 812"/>
                <a:gd name="T11" fmla="*/ 2147483646 h 858"/>
                <a:gd name="T12" fmla="*/ 2147483646 w 812"/>
                <a:gd name="T13" fmla="*/ 2147483646 h 858"/>
                <a:gd name="T14" fmla="*/ 2147483646 w 812"/>
                <a:gd name="T15" fmla="*/ 2147483646 h 858"/>
                <a:gd name="T16" fmla="*/ 0 w 812"/>
                <a:gd name="T17" fmla="*/ 2147483646 h 858"/>
                <a:gd name="T18" fmla="*/ 2147483646 w 812"/>
                <a:gd name="T19" fmla="*/ 2147483646 h 858"/>
                <a:gd name="T20" fmla="*/ 2147483646 w 812"/>
                <a:gd name="T21" fmla="*/ 2147483646 h 858"/>
                <a:gd name="T22" fmla="*/ 2147483646 w 812"/>
                <a:gd name="T23" fmla="*/ 2147483646 h 858"/>
                <a:gd name="T24" fmla="*/ 2147483646 w 812"/>
                <a:gd name="T25" fmla="*/ 2147483646 h 858"/>
                <a:gd name="T26" fmla="*/ 2147483646 w 812"/>
                <a:gd name="T27" fmla="*/ 2147483646 h 858"/>
                <a:gd name="T28" fmla="*/ 2147483646 w 812"/>
                <a:gd name="T29" fmla="*/ 2147483646 h 858"/>
                <a:gd name="T30" fmla="*/ 2147483646 w 812"/>
                <a:gd name="T31" fmla="*/ 2147483646 h 858"/>
                <a:gd name="T32" fmla="*/ 2147483646 w 812"/>
                <a:gd name="T33" fmla="*/ 2147483646 h 858"/>
                <a:gd name="T34" fmla="*/ 2147483646 w 812"/>
                <a:gd name="T35" fmla="*/ 2147483646 h 858"/>
                <a:gd name="T36" fmla="*/ 2147483646 w 812"/>
                <a:gd name="T37" fmla="*/ 2147483646 h 858"/>
                <a:gd name="T38" fmla="*/ 2147483646 w 812"/>
                <a:gd name="T39" fmla="*/ 2147483646 h 858"/>
                <a:gd name="T40" fmla="*/ 2147483646 w 812"/>
                <a:gd name="T41" fmla="*/ 2147483646 h 858"/>
                <a:gd name="T42" fmla="*/ 2147483646 w 812"/>
                <a:gd name="T43" fmla="*/ 2147483646 h 858"/>
                <a:gd name="T44" fmla="*/ 2147483646 w 812"/>
                <a:gd name="T45" fmla="*/ 2147483646 h 858"/>
                <a:gd name="T46" fmla="*/ 2147483646 w 812"/>
                <a:gd name="T47" fmla="*/ 2147483646 h 858"/>
                <a:gd name="T48" fmla="*/ 2147483646 w 812"/>
                <a:gd name="T49" fmla="*/ 2147483646 h 858"/>
                <a:gd name="T50" fmla="*/ 2147483646 w 812"/>
                <a:gd name="T51" fmla="*/ 2147483646 h 858"/>
                <a:gd name="T52" fmla="*/ 2147483646 w 812"/>
                <a:gd name="T53" fmla="*/ 2147483646 h 858"/>
                <a:gd name="T54" fmla="*/ 2147483646 w 812"/>
                <a:gd name="T55" fmla="*/ 2147483646 h 858"/>
                <a:gd name="T56" fmla="*/ 2147483646 w 812"/>
                <a:gd name="T57" fmla="*/ 2147483646 h 858"/>
                <a:gd name="T58" fmla="*/ 2147483646 w 812"/>
                <a:gd name="T59" fmla="*/ 2147483646 h 858"/>
                <a:gd name="T60" fmla="*/ 2147483646 w 812"/>
                <a:gd name="T61" fmla="*/ 2147483646 h 858"/>
                <a:gd name="T62" fmla="*/ 2147483646 w 812"/>
                <a:gd name="T63" fmla="*/ 2147483646 h 858"/>
                <a:gd name="T64" fmla="*/ 2147483646 w 812"/>
                <a:gd name="T65" fmla="*/ 2147483646 h 858"/>
                <a:gd name="T66" fmla="*/ 2147483646 w 812"/>
                <a:gd name="T67" fmla="*/ 2147483646 h 858"/>
                <a:gd name="T68" fmla="*/ 2147483646 w 812"/>
                <a:gd name="T69" fmla="*/ 2147483646 h 8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12" h="858">
                  <a:moveTo>
                    <a:pt x="179" y="0"/>
                  </a:moveTo>
                  <a:lnTo>
                    <a:pt x="507" y="0"/>
                  </a:lnTo>
                  <a:cubicBezTo>
                    <a:pt x="569" y="0"/>
                    <a:pt x="620" y="51"/>
                    <a:pt x="620" y="113"/>
                  </a:cubicBezTo>
                  <a:lnTo>
                    <a:pt x="620" y="264"/>
                  </a:lnTo>
                  <a:cubicBezTo>
                    <a:pt x="584" y="292"/>
                    <a:pt x="563" y="318"/>
                    <a:pt x="535" y="356"/>
                  </a:cubicBezTo>
                  <a:lnTo>
                    <a:pt x="535" y="113"/>
                  </a:lnTo>
                  <a:cubicBezTo>
                    <a:pt x="535" y="98"/>
                    <a:pt x="522" y="85"/>
                    <a:pt x="507" y="85"/>
                  </a:cubicBezTo>
                  <a:lnTo>
                    <a:pt x="247" y="85"/>
                  </a:lnTo>
                  <a:lnTo>
                    <a:pt x="247" y="204"/>
                  </a:lnTo>
                  <a:cubicBezTo>
                    <a:pt x="247" y="216"/>
                    <a:pt x="237" y="226"/>
                    <a:pt x="225" y="226"/>
                  </a:cubicBezTo>
                  <a:lnTo>
                    <a:pt x="86" y="226"/>
                  </a:lnTo>
                  <a:lnTo>
                    <a:pt x="86" y="643"/>
                  </a:lnTo>
                  <a:cubicBezTo>
                    <a:pt x="86" y="658"/>
                    <a:pt x="98" y="670"/>
                    <a:pt x="113" y="670"/>
                  </a:cubicBezTo>
                  <a:lnTo>
                    <a:pt x="375" y="670"/>
                  </a:lnTo>
                  <a:cubicBezTo>
                    <a:pt x="366" y="699"/>
                    <a:pt x="358" y="727"/>
                    <a:pt x="353" y="756"/>
                  </a:cubicBezTo>
                  <a:lnTo>
                    <a:pt x="113" y="756"/>
                  </a:lnTo>
                  <a:cubicBezTo>
                    <a:pt x="51" y="756"/>
                    <a:pt x="0" y="705"/>
                    <a:pt x="0" y="643"/>
                  </a:cubicBezTo>
                  <a:lnTo>
                    <a:pt x="0" y="178"/>
                  </a:lnTo>
                  <a:lnTo>
                    <a:pt x="179" y="0"/>
                  </a:lnTo>
                  <a:close/>
                  <a:moveTo>
                    <a:pt x="721" y="277"/>
                  </a:moveTo>
                  <a:cubicBezTo>
                    <a:pt x="733" y="283"/>
                    <a:pt x="740" y="295"/>
                    <a:pt x="743" y="310"/>
                  </a:cubicBezTo>
                  <a:cubicBezTo>
                    <a:pt x="765" y="316"/>
                    <a:pt x="786" y="330"/>
                    <a:pt x="802" y="358"/>
                  </a:cubicBezTo>
                  <a:cubicBezTo>
                    <a:pt x="812" y="382"/>
                    <a:pt x="808" y="417"/>
                    <a:pt x="794" y="442"/>
                  </a:cubicBezTo>
                  <a:cubicBezTo>
                    <a:pt x="770" y="487"/>
                    <a:pt x="736" y="543"/>
                    <a:pt x="707" y="588"/>
                  </a:cubicBezTo>
                  <a:cubicBezTo>
                    <a:pt x="688" y="595"/>
                    <a:pt x="692" y="556"/>
                    <a:pt x="699" y="546"/>
                  </a:cubicBezTo>
                  <a:cubicBezTo>
                    <a:pt x="723" y="510"/>
                    <a:pt x="743" y="477"/>
                    <a:pt x="762" y="413"/>
                  </a:cubicBezTo>
                  <a:cubicBezTo>
                    <a:pt x="766" y="382"/>
                    <a:pt x="752" y="368"/>
                    <a:pt x="743" y="355"/>
                  </a:cubicBezTo>
                  <a:cubicBezTo>
                    <a:pt x="742" y="358"/>
                    <a:pt x="742" y="360"/>
                    <a:pt x="741" y="363"/>
                  </a:cubicBezTo>
                  <a:cubicBezTo>
                    <a:pt x="723" y="355"/>
                    <a:pt x="706" y="346"/>
                    <a:pt x="688" y="337"/>
                  </a:cubicBezTo>
                  <a:cubicBezTo>
                    <a:pt x="670" y="327"/>
                    <a:pt x="653" y="314"/>
                    <a:pt x="636" y="302"/>
                  </a:cubicBezTo>
                  <a:cubicBezTo>
                    <a:pt x="669" y="274"/>
                    <a:pt x="698" y="264"/>
                    <a:pt x="721" y="277"/>
                  </a:cubicBezTo>
                  <a:close/>
                  <a:moveTo>
                    <a:pt x="734" y="395"/>
                  </a:moveTo>
                  <a:cubicBezTo>
                    <a:pt x="719" y="445"/>
                    <a:pt x="690" y="508"/>
                    <a:pt x="649" y="579"/>
                  </a:cubicBezTo>
                  <a:cubicBezTo>
                    <a:pt x="628" y="615"/>
                    <a:pt x="604" y="650"/>
                    <a:pt x="580" y="681"/>
                  </a:cubicBezTo>
                  <a:cubicBezTo>
                    <a:pt x="557" y="670"/>
                    <a:pt x="535" y="658"/>
                    <a:pt x="512" y="646"/>
                  </a:cubicBezTo>
                  <a:cubicBezTo>
                    <a:pt x="488" y="633"/>
                    <a:pt x="465" y="617"/>
                    <a:pt x="442" y="601"/>
                  </a:cubicBezTo>
                  <a:cubicBezTo>
                    <a:pt x="457" y="565"/>
                    <a:pt x="475" y="527"/>
                    <a:pt x="496" y="491"/>
                  </a:cubicBezTo>
                  <a:cubicBezTo>
                    <a:pt x="536" y="420"/>
                    <a:pt x="576" y="363"/>
                    <a:pt x="612" y="325"/>
                  </a:cubicBezTo>
                  <a:cubicBezTo>
                    <a:pt x="631" y="338"/>
                    <a:pt x="650" y="351"/>
                    <a:pt x="671" y="363"/>
                  </a:cubicBezTo>
                  <a:cubicBezTo>
                    <a:pt x="691" y="375"/>
                    <a:pt x="712" y="384"/>
                    <a:pt x="734" y="395"/>
                  </a:cubicBezTo>
                  <a:close/>
                  <a:moveTo>
                    <a:pt x="560" y="707"/>
                  </a:moveTo>
                  <a:cubicBezTo>
                    <a:pt x="486" y="797"/>
                    <a:pt x="410" y="858"/>
                    <a:pt x="392" y="848"/>
                  </a:cubicBezTo>
                  <a:cubicBezTo>
                    <a:pt x="375" y="838"/>
                    <a:pt x="389" y="742"/>
                    <a:pt x="430" y="632"/>
                  </a:cubicBezTo>
                  <a:cubicBezTo>
                    <a:pt x="451" y="645"/>
                    <a:pt x="472" y="659"/>
                    <a:pt x="494" y="672"/>
                  </a:cubicBezTo>
                  <a:cubicBezTo>
                    <a:pt x="516" y="685"/>
                    <a:pt x="538" y="695"/>
                    <a:pt x="560" y="707"/>
                  </a:cubicBezTo>
                  <a:close/>
                  <a:moveTo>
                    <a:pt x="294" y="149"/>
                  </a:moveTo>
                  <a:lnTo>
                    <a:pt x="482" y="149"/>
                  </a:lnTo>
                  <a:lnTo>
                    <a:pt x="482" y="193"/>
                  </a:lnTo>
                  <a:lnTo>
                    <a:pt x="294" y="193"/>
                  </a:lnTo>
                  <a:lnTo>
                    <a:pt x="294" y="149"/>
                  </a:lnTo>
                  <a:close/>
                  <a:moveTo>
                    <a:pt x="148" y="437"/>
                  </a:moveTo>
                  <a:lnTo>
                    <a:pt x="258" y="437"/>
                  </a:lnTo>
                  <a:lnTo>
                    <a:pt x="258" y="480"/>
                  </a:lnTo>
                  <a:lnTo>
                    <a:pt x="148" y="480"/>
                  </a:lnTo>
                  <a:lnTo>
                    <a:pt x="148" y="437"/>
                  </a:lnTo>
                  <a:close/>
                  <a:moveTo>
                    <a:pt x="148" y="337"/>
                  </a:moveTo>
                  <a:lnTo>
                    <a:pt x="482" y="337"/>
                  </a:lnTo>
                  <a:lnTo>
                    <a:pt x="482" y="381"/>
                  </a:lnTo>
                  <a:lnTo>
                    <a:pt x="148" y="381"/>
                  </a:lnTo>
                  <a:lnTo>
                    <a:pt x="148" y="337"/>
                  </a:lnTo>
                  <a:close/>
                  <a:moveTo>
                    <a:pt x="148" y="245"/>
                  </a:moveTo>
                  <a:lnTo>
                    <a:pt x="482" y="245"/>
                  </a:lnTo>
                  <a:lnTo>
                    <a:pt x="482" y="288"/>
                  </a:lnTo>
                  <a:lnTo>
                    <a:pt x="148" y="288"/>
                  </a:lnTo>
                  <a:lnTo>
                    <a:pt x="148" y="245"/>
                  </a:lnTo>
                  <a:close/>
                  <a:moveTo>
                    <a:pt x="111" y="187"/>
                  </a:moveTo>
                  <a:lnTo>
                    <a:pt x="193" y="187"/>
                  </a:lnTo>
                  <a:cubicBezTo>
                    <a:pt x="201" y="187"/>
                    <a:pt x="208" y="181"/>
                    <a:pt x="208" y="173"/>
                  </a:cubicBezTo>
                  <a:lnTo>
                    <a:pt x="208" y="91"/>
                  </a:lnTo>
                  <a:lnTo>
                    <a:pt x="111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4C54"/>
                </a:solidFill>
                <a:latin typeface="思源黑体" panose="020B0500000000000000" pitchFamily="34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999560" y="3419397"/>
            <a:ext cx="511892" cy="511890"/>
            <a:chOff x="8140236" y="3360782"/>
            <a:chExt cx="511892" cy="511890"/>
          </a:xfrm>
        </p:grpSpPr>
        <p:sp>
          <p:nvSpPr>
            <p:cNvPr id="22" name="椭圆 21"/>
            <p:cNvSpPr/>
            <p:nvPr/>
          </p:nvSpPr>
          <p:spPr>
            <a:xfrm>
              <a:off x="8140236" y="3360782"/>
              <a:ext cx="511892" cy="511890"/>
            </a:xfrm>
            <a:prstGeom prst="ellipse">
              <a:avLst/>
            </a:prstGeom>
            <a:solidFill>
              <a:srgbClr val="444D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/>
            <p:cNvSpPr>
              <a:spLocks noEditPoints="1"/>
            </p:cNvSpPr>
            <p:nvPr/>
          </p:nvSpPr>
          <p:spPr bwMode="auto">
            <a:xfrm>
              <a:off x="8251635" y="3476865"/>
              <a:ext cx="330189" cy="309840"/>
            </a:xfrm>
            <a:custGeom>
              <a:avLst/>
              <a:gdLst>
                <a:gd name="T0" fmla="*/ 0 w 957"/>
                <a:gd name="T1" fmla="*/ 2147483646 h 885"/>
                <a:gd name="T2" fmla="*/ 2147483646 w 957"/>
                <a:gd name="T3" fmla="*/ 2147483646 h 885"/>
                <a:gd name="T4" fmla="*/ 2147483646 w 957"/>
                <a:gd name="T5" fmla="*/ 2147483646 h 885"/>
                <a:gd name="T6" fmla="*/ 2147483646 w 957"/>
                <a:gd name="T7" fmla="*/ 2147483646 h 885"/>
                <a:gd name="T8" fmla="*/ 2147483646 w 957"/>
                <a:gd name="T9" fmla="*/ 2147483646 h 885"/>
                <a:gd name="T10" fmla="*/ 2147483646 w 957"/>
                <a:gd name="T11" fmla="*/ 2147483646 h 885"/>
                <a:gd name="T12" fmla="*/ 2147483646 w 957"/>
                <a:gd name="T13" fmla="*/ 2147483646 h 885"/>
                <a:gd name="T14" fmla="*/ 2147483646 w 957"/>
                <a:gd name="T15" fmla="*/ 2147483646 h 885"/>
                <a:gd name="T16" fmla="*/ 2147483646 w 957"/>
                <a:gd name="T17" fmla="*/ 2147483646 h 885"/>
                <a:gd name="T18" fmla="*/ 2147483646 w 957"/>
                <a:gd name="T19" fmla="*/ 2147483646 h 885"/>
                <a:gd name="T20" fmla="*/ 0 w 957"/>
                <a:gd name="T21" fmla="*/ 2147483646 h 885"/>
                <a:gd name="T22" fmla="*/ 2147483646 w 957"/>
                <a:gd name="T23" fmla="*/ 2147483646 h 885"/>
                <a:gd name="T24" fmla="*/ 2147483646 w 957"/>
                <a:gd name="T25" fmla="*/ 2147483646 h 885"/>
                <a:gd name="T26" fmla="*/ 2147483646 w 957"/>
                <a:gd name="T27" fmla="*/ 2147483646 h 885"/>
                <a:gd name="T28" fmla="*/ 2147483646 w 957"/>
                <a:gd name="T29" fmla="*/ 2147483646 h 885"/>
                <a:gd name="T30" fmla="*/ 2147483646 w 957"/>
                <a:gd name="T31" fmla="*/ 2147483646 h 885"/>
                <a:gd name="T32" fmla="*/ 2147483646 w 957"/>
                <a:gd name="T33" fmla="*/ 2147483646 h 885"/>
                <a:gd name="T34" fmla="*/ 2147483646 w 957"/>
                <a:gd name="T35" fmla="*/ 2147483646 h 885"/>
                <a:gd name="T36" fmla="*/ 2147483646 w 957"/>
                <a:gd name="T37" fmla="*/ 2147483646 h 885"/>
                <a:gd name="T38" fmla="*/ 2147483646 w 957"/>
                <a:gd name="T39" fmla="*/ 2147483646 h 885"/>
                <a:gd name="T40" fmla="*/ 2147483646 w 957"/>
                <a:gd name="T41" fmla="*/ 2147483646 h 885"/>
                <a:gd name="T42" fmla="*/ 2147483646 w 957"/>
                <a:gd name="T43" fmla="*/ 2147483646 h 885"/>
                <a:gd name="T44" fmla="*/ 2147483646 w 957"/>
                <a:gd name="T45" fmla="*/ 2147483646 h 885"/>
                <a:gd name="T46" fmla="*/ 2147483646 w 957"/>
                <a:gd name="T47" fmla="*/ 2147483646 h 885"/>
                <a:gd name="T48" fmla="*/ 2147483646 w 957"/>
                <a:gd name="T49" fmla="*/ 2147483646 h 885"/>
                <a:gd name="T50" fmla="*/ 2147483646 w 957"/>
                <a:gd name="T51" fmla="*/ 2147483646 h 885"/>
                <a:gd name="T52" fmla="*/ 2147483646 w 957"/>
                <a:gd name="T53" fmla="*/ 2147483646 h 885"/>
                <a:gd name="T54" fmla="*/ 2147483646 w 957"/>
                <a:gd name="T55" fmla="*/ 2147483646 h 885"/>
                <a:gd name="T56" fmla="*/ 2147483646 w 957"/>
                <a:gd name="T57" fmla="*/ 2147483646 h 885"/>
                <a:gd name="T58" fmla="*/ 2147483646 w 957"/>
                <a:gd name="T59" fmla="*/ 2147483646 h 885"/>
                <a:gd name="T60" fmla="*/ 2147483646 w 957"/>
                <a:gd name="T61" fmla="*/ 2147483646 h 885"/>
                <a:gd name="T62" fmla="*/ 2147483646 w 957"/>
                <a:gd name="T63" fmla="*/ 2147483646 h 885"/>
                <a:gd name="T64" fmla="*/ 2147483646 w 957"/>
                <a:gd name="T65" fmla="*/ 2147483646 h 885"/>
                <a:gd name="T66" fmla="*/ 2147483646 w 957"/>
                <a:gd name="T67" fmla="*/ 2147483646 h 885"/>
                <a:gd name="T68" fmla="*/ 2147483646 w 957"/>
                <a:gd name="T69" fmla="*/ 2147483646 h 885"/>
                <a:gd name="T70" fmla="*/ 2147483646 w 957"/>
                <a:gd name="T71" fmla="*/ 2147483646 h 885"/>
                <a:gd name="T72" fmla="*/ 2147483646 w 957"/>
                <a:gd name="T73" fmla="*/ 2147483646 h 885"/>
                <a:gd name="T74" fmla="*/ 2147483646 w 957"/>
                <a:gd name="T75" fmla="*/ 2147483646 h 885"/>
                <a:gd name="T76" fmla="*/ 2147483646 w 957"/>
                <a:gd name="T77" fmla="*/ 2147483646 h 885"/>
                <a:gd name="T78" fmla="*/ 2147483646 w 957"/>
                <a:gd name="T79" fmla="*/ 2147483646 h 885"/>
                <a:gd name="T80" fmla="*/ 2147483646 w 957"/>
                <a:gd name="T81" fmla="*/ 2147483646 h 885"/>
                <a:gd name="T82" fmla="*/ 2147483646 w 957"/>
                <a:gd name="T83" fmla="*/ 2147483646 h 885"/>
                <a:gd name="T84" fmla="*/ 2147483646 w 957"/>
                <a:gd name="T85" fmla="*/ 2147483646 h 885"/>
                <a:gd name="T86" fmla="*/ 2147483646 w 957"/>
                <a:gd name="T87" fmla="*/ 2147483646 h 885"/>
                <a:gd name="T88" fmla="*/ 2147483646 w 957"/>
                <a:gd name="T89" fmla="*/ 2147483646 h 885"/>
                <a:gd name="T90" fmla="*/ 2147483646 w 957"/>
                <a:gd name="T91" fmla="*/ 2147483646 h 885"/>
                <a:gd name="T92" fmla="*/ 2147483646 w 957"/>
                <a:gd name="T93" fmla="*/ 2147483646 h 88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957" h="885">
                  <a:moveTo>
                    <a:pt x="0" y="155"/>
                  </a:moveTo>
                  <a:cubicBezTo>
                    <a:pt x="0" y="278"/>
                    <a:pt x="0" y="400"/>
                    <a:pt x="0" y="523"/>
                  </a:cubicBezTo>
                  <a:cubicBezTo>
                    <a:pt x="0" y="533"/>
                    <a:pt x="161" y="687"/>
                    <a:pt x="181" y="707"/>
                  </a:cubicBezTo>
                  <a:cubicBezTo>
                    <a:pt x="202" y="728"/>
                    <a:pt x="355" y="885"/>
                    <a:pt x="368" y="885"/>
                  </a:cubicBezTo>
                  <a:cubicBezTo>
                    <a:pt x="442" y="885"/>
                    <a:pt x="516" y="885"/>
                    <a:pt x="589" y="885"/>
                  </a:cubicBezTo>
                  <a:cubicBezTo>
                    <a:pt x="620" y="885"/>
                    <a:pt x="632" y="856"/>
                    <a:pt x="645" y="837"/>
                  </a:cubicBezTo>
                  <a:cubicBezTo>
                    <a:pt x="645" y="684"/>
                    <a:pt x="645" y="532"/>
                    <a:pt x="645" y="380"/>
                  </a:cubicBezTo>
                  <a:cubicBezTo>
                    <a:pt x="631" y="385"/>
                    <a:pt x="590" y="368"/>
                    <a:pt x="582" y="391"/>
                  </a:cubicBezTo>
                  <a:cubicBezTo>
                    <a:pt x="577" y="401"/>
                    <a:pt x="582" y="573"/>
                    <a:pt x="582" y="608"/>
                  </a:cubicBezTo>
                  <a:cubicBezTo>
                    <a:pt x="582" y="643"/>
                    <a:pt x="592" y="822"/>
                    <a:pt x="567" y="822"/>
                  </a:cubicBezTo>
                  <a:cubicBezTo>
                    <a:pt x="507" y="822"/>
                    <a:pt x="447" y="822"/>
                    <a:pt x="387" y="822"/>
                  </a:cubicBezTo>
                  <a:cubicBezTo>
                    <a:pt x="368" y="822"/>
                    <a:pt x="376" y="760"/>
                    <a:pt x="376" y="741"/>
                  </a:cubicBezTo>
                  <a:cubicBezTo>
                    <a:pt x="376" y="710"/>
                    <a:pt x="376" y="679"/>
                    <a:pt x="376" y="649"/>
                  </a:cubicBezTo>
                  <a:cubicBezTo>
                    <a:pt x="376" y="565"/>
                    <a:pt x="376" y="551"/>
                    <a:pt x="324" y="516"/>
                  </a:cubicBezTo>
                  <a:cubicBezTo>
                    <a:pt x="300" y="516"/>
                    <a:pt x="301" y="509"/>
                    <a:pt x="280" y="509"/>
                  </a:cubicBezTo>
                  <a:cubicBezTo>
                    <a:pt x="209" y="509"/>
                    <a:pt x="137" y="509"/>
                    <a:pt x="66" y="509"/>
                  </a:cubicBezTo>
                  <a:cubicBezTo>
                    <a:pt x="66" y="398"/>
                    <a:pt x="66" y="287"/>
                    <a:pt x="66" y="177"/>
                  </a:cubicBezTo>
                  <a:cubicBezTo>
                    <a:pt x="66" y="168"/>
                    <a:pt x="69" y="169"/>
                    <a:pt x="74" y="162"/>
                  </a:cubicBezTo>
                  <a:cubicBezTo>
                    <a:pt x="155" y="162"/>
                    <a:pt x="236" y="162"/>
                    <a:pt x="317" y="162"/>
                  </a:cubicBezTo>
                  <a:cubicBezTo>
                    <a:pt x="333" y="151"/>
                    <a:pt x="375" y="115"/>
                    <a:pt x="376" y="92"/>
                  </a:cubicBezTo>
                  <a:cubicBezTo>
                    <a:pt x="274" y="92"/>
                    <a:pt x="172" y="92"/>
                    <a:pt x="70" y="92"/>
                  </a:cubicBezTo>
                  <a:cubicBezTo>
                    <a:pt x="42" y="92"/>
                    <a:pt x="0" y="131"/>
                    <a:pt x="0" y="155"/>
                  </a:cubicBezTo>
                  <a:close/>
                  <a:moveTo>
                    <a:pt x="505" y="215"/>
                  </a:moveTo>
                  <a:lnTo>
                    <a:pt x="538" y="182"/>
                  </a:lnTo>
                  <a:lnTo>
                    <a:pt x="505" y="149"/>
                  </a:lnTo>
                  <a:cubicBezTo>
                    <a:pt x="504" y="148"/>
                    <a:pt x="504" y="146"/>
                    <a:pt x="505" y="145"/>
                  </a:cubicBezTo>
                  <a:lnTo>
                    <a:pt x="527" y="123"/>
                  </a:lnTo>
                  <a:cubicBezTo>
                    <a:pt x="528" y="122"/>
                    <a:pt x="530" y="122"/>
                    <a:pt x="531" y="123"/>
                  </a:cubicBezTo>
                  <a:lnTo>
                    <a:pt x="564" y="156"/>
                  </a:lnTo>
                  <a:lnTo>
                    <a:pt x="597" y="123"/>
                  </a:lnTo>
                  <a:cubicBezTo>
                    <a:pt x="599" y="122"/>
                    <a:pt x="601" y="122"/>
                    <a:pt x="602" y="123"/>
                  </a:cubicBezTo>
                  <a:lnTo>
                    <a:pt x="624" y="145"/>
                  </a:lnTo>
                  <a:cubicBezTo>
                    <a:pt x="625" y="146"/>
                    <a:pt x="625" y="148"/>
                    <a:pt x="624" y="149"/>
                  </a:cubicBezTo>
                  <a:lnTo>
                    <a:pt x="591" y="182"/>
                  </a:lnTo>
                  <a:lnTo>
                    <a:pt x="624" y="215"/>
                  </a:lnTo>
                  <a:cubicBezTo>
                    <a:pt x="625" y="217"/>
                    <a:pt x="625" y="219"/>
                    <a:pt x="624" y="220"/>
                  </a:cubicBezTo>
                  <a:lnTo>
                    <a:pt x="602" y="242"/>
                  </a:lnTo>
                  <a:cubicBezTo>
                    <a:pt x="601" y="243"/>
                    <a:pt x="599" y="243"/>
                    <a:pt x="597" y="242"/>
                  </a:cubicBezTo>
                  <a:lnTo>
                    <a:pt x="564" y="209"/>
                  </a:lnTo>
                  <a:lnTo>
                    <a:pt x="531" y="242"/>
                  </a:lnTo>
                  <a:cubicBezTo>
                    <a:pt x="530" y="243"/>
                    <a:pt x="528" y="243"/>
                    <a:pt x="527" y="242"/>
                  </a:cubicBezTo>
                  <a:lnTo>
                    <a:pt x="505" y="220"/>
                  </a:lnTo>
                  <a:cubicBezTo>
                    <a:pt x="504" y="219"/>
                    <a:pt x="504" y="217"/>
                    <a:pt x="505" y="215"/>
                  </a:cubicBezTo>
                  <a:close/>
                  <a:moveTo>
                    <a:pt x="780" y="332"/>
                  </a:moveTo>
                  <a:lnTo>
                    <a:pt x="944" y="496"/>
                  </a:lnTo>
                  <a:cubicBezTo>
                    <a:pt x="957" y="509"/>
                    <a:pt x="957" y="530"/>
                    <a:pt x="944" y="543"/>
                  </a:cubicBezTo>
                  <a:lnTo>
                    <a:pt x="925" y="562"/>
                  </a:lnTo>
                  <a:cubicBezTo>
                    <a:pt x="912" y="575"/>
                    <a:pt x="891" y="575"/>
                    <a:pt x="878" y="562"/>
                  </a:cubicBezTo>
                  <a:lnTo>
                    <a:pt x="714" y="398"/>
                  </a:lnTo>
                  <a:lnTo>
                    <a:pt x="780" y="332"/>
                  </a:lnTo>
                  <a:close/>
                  <a:moveTo>
                    <a:pt x="447" y="65"/>
                  </a:moveTo>
                  <a:cubicBezTo>
                    <a:pt x="512" y="0"/>
                    <a:pt x="617" y="0"/>
                    <a:pt x="682" y="65"/>
                  </a:cubicBezTo>
                  <a:cubicBezTo>
                    <a:pt x="740" y="123"/>
                    <a:pt x="747" y="213"/>
                    <a:pt x="701" y="278"/>
                  </a:cubicBezTo>
                  <a:lnTo>
                    <a:pt x="754" y="331"/>
                  </a:lnTo>
                  <a:cubicBezTo>
                    <a:pt x="756" y="333"/>
                    <a:pt x="756" y="337"/>
                    <a:pt x="754" y="339"/>
                  </a:cubicBezTo>
                  <a:lnTo>
                    <a:pt x="721" y="372"/>
                  </a:lnTo>
                  <a:cubicBezTo>
                    <a:pt x="719" y="374"/>
                    <a:pt x="715" y="374"/>
                    <a:pt x="713" y="372"/>
                  </a:cubicBezTo>
                  <a:lnTo>
                    <a:pt x="660" y="319"/>
                  </a:lnTo>
                  <a:cubicBezTo>
                    <a:pt x="595" y="364"/>
                    <a:pt x="505" y="358"/>
                    <a:pt x="447" y="300"/>
                  </a:cubicBezTo>
                  <a:cubicBezTo>
                    <a:pt x="382" y="235"/>
                    <a:pt x="382" y="130"/>
                    <a:pt x="447" y="65"/>
                  </a:cubicBezTo>
                  <a:close/>
                  <a:moveTo>
                    <a:pt x="486" y="104"/>
                  </a:moveTo>
                  <a:cubicBezTo>
                    <a:pt x="529" y="60"/>
                    <a:pt x="600" y="60"/>
                    <a:pt x="643" y="104"/>
                  </a:cubicBezTo>
                  <a:cubicBezTo>
                    <a:pt x="687" y="147"/>
                    <a:pt x="687" y="218"/>
                    <a:pt x="643" y="261"/>
                  </a:cubicBezTo>
                  <a:cubicBezTo>
                    <a:pt x="600" y="305"/>
                    <a:pt x="529" y="305"/>
                    <a:pt x="486" y="261"/>
                  </a:cubicBezTo>
                  <a:cubicBezTo>
                    <a:pt x="442" y="218"/>
                    <a:pt x="442" y="147"/>
                    <a:pt x="486" y="104"/>
                  </a:cubicBezTo>
                  <a:close/>
                  <a:moveTo>
                    <a:pt x="306" y="770"/>
                  </a:moveTo>
                  <a:cubicBezTo>
                    <a:pt x="304" y="706"/>
                    <a:pt x="303" y="643"/>
                    <a:pt x="302" y="579"/>
                  </a:cubicBezTo>
                  <a:cubicBezTo>
                    <a:pt x="241" y="579"/>
                    <a:pt x="179" y="579"/>
                    <a:pt x="118" y="579"/>
                  </a:cubicBezTo>
                  <a:cubicBezTo>
                    <a:pt x="117" y="580"/>
                    <a:pt x="116" y="581"/>
                    <a:pt x="115" y="581"/>
                  </a:cubicBezTo>
                  <a:cubicBezTo>
                    <a:pt x="179" y="644"/>
                    <a:pt x="242" y="707"/>
                    <a:pt x="306" y="770"/>
                  </a:cubicBezTo>
                  <a:close/>
                  <a:moveTo>
                    <a:pt x="110" y="225"/>
                  </a:moveTo>
                  <a:cubicBezTo>
                    <a:pt x="110" y="233"/>
                    <a:pt x="110" y="242"/>
                    <a:pt x="110" y="250"/>
                  </a:cubicBezTo>
                  <a:cubicBezTo>
                    <a:pt x="110" y="259"/>
                    <a:pt x="116" y="265"/>
                    <a:pt x="125" y="265"/>
                  </a:cubicBezTo>
                  <a:cubicBezTo>
                    <a:pt x="209" y="265"/>
                    <a:pt x="292" y="265"/>
                    <a:pt x="376" y="265"/>
                  </a:cubicBezTo>
                  <a:cubicBezTo>
                    <a:pt x="399" y="265"/>
                    <a:pt x="394" y="228"/>
                    <a:pt x="387" y="214"/>
                  </a:cubicBezTo>
                  <a:cubicBezTo>
                    <a:pt x="338" y="214"/>
                    <a:pt x="288" y="214"/>
                    <a:pt x="239" y="214"/>
                  </a:cubicBezTo>
                  <a:cubicBezTo>
                    <a:pt x="209" y="214"/>
                    <a:pt x="110" y="206"/>
                    <a:pt x="110" y="225"/>
                  </a:cubicBezTo>
                  <a:close/>
                  <a:moveTo>
                    <a:pt x="110" y="405"/>
                  </a:moveTo>
                  <a:cubicBezTo>
                    <a:pt x="110" y="416"/>
                    <a:pt x="110" y="427"/>
                    <a:pt x="110" y="439"/>
                  </a:cubicBezTo>
                  <a:cubicBezTo>
                    <a:pt x="110" y="447"/>
                    <a:pt x="113" y="450"/>
                    <a:pt x="121" y="450"/>
                  </a:cubicBezTo>
                  <a:cubicBezTo>
                    <a:pt x="211" y="450"/>
                    <a:pt x="301" y="450"/>
                    <a:pt x="390" y="450"/>
                  </a:cubicBezTo>
                  <a:cubicBezTo>
                    <a:pt x="392" y="440"/>
                    <a:pt x="400" y="402"/>
                    <a:pt x="379" y="402"/>
                  </a:cubicBezTo>
                  <a:cubicBezTo>
                    <a:pt x="296" y="402"/>
                    <a:pt x="212" y="402"/>
                    <a:pt x="129" y="402"/>
                  </a:cubicBezTo>
                  <a:cubicBezTo>
                    <a:pt x="123" y="402"/>
                    <a:pt x="115" y="404"/>
                    <a:pt x="110" y="405"/>
                  </a:cubicBezTo>
                  <a:close/>
                  <a:moveTo>
                    <a:pt x="110" y="328"/>
                  </a:moveTo>
                  <a:cubicBezTo>
                    <a:pt x="110" y="333"/>
                    <a:pt x="110" y="338"/>
                    <a:pt x="110" y="343"/>
                  </a:cubicBezTo>
                  <a:cubicBezTo>
                    <a:pt x="110" y="351"/>
                    <a:pt x="113" y="351"/>
                    <a:pt x="118" y="357"/>
                  </a:cubicBezTo>
                  <a:cubicBezTo>
                    <a:pt x="205" y="357"/>
                    <a:pt x="292" y="357"/>
                    <a:pt x="379" y="357"/>
                  </a:cubicBezTo>
                  <a:cubicBezTo>
                    <a:pt x="384" y="355"/>
                    <a:pt x="389" y="353"/>
                    <a:pt x="394" y="350"/>
                  </a:cubicBezTo>
                  <a:cubicBezTo>
                    <a:pt x="394" y="344"/>
                    <a:pt x="394" y="338"/>
                    <a:pt x="394" y="332"/>
                  </a:cubicBezTo>
                  <a:cubicBezTo>
                    <a:pt x="394" y="320"/>
                    <a:pt x="390" y="317"/>
                    <a:pt x="387" y="309"/>
                  </a:cubicBezTo>
                  <a:cubicBezTo>
                    <a:pt x="336" y="309"/>
                    <a:pt x="286" y="309"/>
                    <a:pt x="236" y="309"/>
                  </a:cubicBezTo>
                  <a:cubicBezTo>
                    <a:pt x="211" y="309"/>
                    <a:pt x="187" y="309"/>
                    <a:pt x="162" y="309"/>
                  </a:cubicBezTo>
                  <a:cubicBezTo>
                    <a:pt x="131" y="310"/>
                    <a:pt x="110" y="299"/>
                    <a:pt x="110" y="3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4C54"/>
                </a:solidFill>
                <a:latin typeface="思源黑体" panose="020B0500000000000000" pitchFamily="34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7571242" y="4833829"/>
            <a:ext cx="2621238" cy="202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554651" y="4091697"/>
            <a:ext cx="2872946" cy="19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负责几何体搭建、脚本生成与渲染实现。接收指令、计划并给出预期结果，按照方案开展建模，同步完成自我查验，最终输出符合赛题要求的脚本与效果图。</a:t>
            </a:r>
          </a:p>
        </p:txBody>
      </p:sp>
    </p:spTree>
    <p:extLst>
      <p:ext uri="{BB962C8B-B14F-4D97-AF65-F5344CB8AC3E}">
        <p14:creationId xmlns:p14="http://schemas.microsoft.com/office/powerpoint/2010/main" val="3339861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工具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21523" y="2007927"/>
            <a:ext cx="2619669" cy="3846585"/>
            <a:chOff x="1474030" y="1802903"/>
            <a:chExt cx="2935782" cy="4310749"/>
          </a:xfrm>
        </p:grpSpPr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1474030" y="1802903"/>
              <a:ext cx="2935782" cy="4310749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/>
            </a:p>
          </p:txBody>
        </p:sp>
        <p:sp>
          <p:nvSpPr>
            <p:cNvPr id="32" name="任意多边形: 形状 31"/>
            <p:cNvSpPr/>
            <p:nvPr/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444D57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696039" y="2045551"/>
              <a:ext cx="945313" cy="781594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07478" y="4235411"/>
              <a:ext cx="2668885" cy="1820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负责三维折叠建模与模型精细化处理。将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Canva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输出的二维平面素材导入，结合</a:t>
              </a: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bpy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rPr>
                <a:t>脚本通过折叠、拉伸等建模操作，把平面图形转化为三维立体模型，完成模型调整、结构搭建与实时渲染输出。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endParaRPr>
            </a:p>
          </p:txBody>
        </p:sp>
        <p:grpSp>
          <p:nvGrpSpPr>
            <p:cNvPr id="35" name="组合 34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任意多边形: 形状 35"/>
              <p:cNvSpPr>
                <a:spLocks noEditPoints="1"/>
              </p:cNvSpPr>
              <p:nvPr/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任意多边形: 形状 36"/>
              <p:cNvSpPr>
                <a:spLocks noEditPoints="1"/>
              </p:cNvSpPr>
              <p:nvPr/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任意多边形: 形状 37"/>
              <p:cNvSpPr>
                <a:spLocks noEditPoints="1"/>
              </p:cNvSpPr>
              <p:nvPr/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矩形 38"/>
              <p:cNvSpPr>
                <a:spLocks noChangeArrowheads="1"/>
              </p:cNvSpPr>
              <p:nvPr/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任意多边形: 形状 39"/>
              <p:cNvSpPr/>
              <p:nvPr/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矩形 41"/>
              <p:cNvSpPr>
                <a:spLocks noChangeArrowheads="1"/>
              </p:cNvSpPr>
              <p:nvPr/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444D57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2273921" y="3415737"/>
              <a:ext cx="1317147" cy="482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blender</a:t>
              </a: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2613968" y="4028610"/>
              <a:ext cx="586432" cy="0"/>
            </a:xfrm>
            <a:prstGeom prst="line">
              <a:avLst/>
            </a:prstGeom>
            <a:ln w="38100">
              <a:solidFill>
                <a:srgbClr val="444D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7592308" y="2070686"/>
            <a:ext cx="2619669" cy="3846585"/>
            <a:chOff x="4736414" y="1765832"/>
            <a:chExt cx="2935782" cy="4310749"/>
          </a:xfrm>
        </p:grpSpPr>
        <p:grpSp>
          <p:nvGrpSpPr>
            <p:cNvPr id="13" name="组合 12"/>
            <p:cNvGrpSpPr/>
            <p:nvPr/>
          </p:nvGrpSpPr>
          <p:grpSpPr>
            <a:xfrm>
              <a:off x="4736414" y="1765832"/>
              <a:ext cx="2935782" cy="4310749"/>
              <a:chOff x="4711700" y="1802903"/>
              <a:chExt cx="2935782" cy="4310749"/>
            </a:xfrm>
          </p:grpSpPr>
          <p:sp>
            <p:nvSpPr>
              <p:cNvPr id="45" name="矩形 44"/>
              <p:cNvSpPr>
                <a:spLocks noChangeArrowheads="1"/>
              </p:cNvSpPr>
              <p:nvPr/>
            </p:nvSpPr>
            <p:spPr bwMode="auto">
              <a:xfrm>
                <a:off x="4711700" y="1802903"/>
                <a:ext cx="2935782" cy="4310749"/>
              </a:xfrm>
              <a:prstGeom prst="rect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54" name="任意多边形: 形状 53"/>
              <p:cNvSpPr/>
              <p:nvPr/>
            </p:nvSpPr>
            <p:spPr bwMode="auto">
              <a:xfrm>
                <a:off x="4711700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666E8A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4933709" y="2045551"/>
                <a:ext cx="945313" cy="781594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845148" y="4235411"/>
                <a:ext cx="2668885" cy="57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653184" y="3415737"/>
                <a:ext cx="1033957" cy="4823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000" b="1" dirty="0" err="1">
                    <a:solidFill>
                      <a:srgbClr val="433D3C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canva</a:t>
                </a:r>
                <a:endParaRPr lang="zh-CN" altLang="en-US" sz="2000" b="1" dirty="0">
                  <a:solidFill>
                    <a:srgbClr val="433D3C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cxnSp>
            <p:nvCxnSpPr>
              <p:cNvPr id="59" name="直接连接符 58"/>
              <p:cNvCxnSpPr/>
              <p:nvPr/>
            </p:nvCxnSpPr>
            <p:spPr>
              <a:xfrm>
                <a:off x="5851638" y="4028610"/>
                <a:ext cx="586432" cy="0"/>
              </a:xfrm>
              <a:prstGeom prst="line">
                <a:avLst/>
              </a:prstGeom>
              <a:ln w="38100">
                <a:solidFill>
                  <a:srgbClr val="666E8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/>
            <p:cNvGrpSpPr/>
            <p:nvPr/>
          </p:nvGrpSpPr>
          <p:grpSpPr bwMode="auto">
            <a:xfrm>
              <a:off x="6629100" y="2256464"/>
              <a:ext cx="640086" cy="420193"/>
              <a:chOff x="165605" y="4160117"/>
              <a:chExt cx="962026" cy="631825"/>
            </a:xfrm>
            <a:solidFill>
              <a:srgbClr val="0B2C4F"/>
            </a:solidFill>
          </p:grpSpPr>
          <p:sp>
            <p:nvSpPr>
              <p:cNvPr id="81" name="任意多边形: 形状 80"/>
              <p:cNvSpPr/>
              <p:nvPr/>
            </p:nvSpPr>
            <p:spPr bwMode="auto">
              <a:xfrm>
                <a:off x="171329" y="4674430"/>
                <a:ext cx="956844" cy="117404"/>
              </a:xfrm>
              <a:custGeom>
                <a:avLst/>
                <a:gdLst>
                  <a:gd name="T0" fmla="*/ 145 w 255"/>
                  <a:gd name="T1" fmla="*/ 26 h 31"/>
                  <a:gd name="T2" fmla="*/ 145 w 255"/>
                  <a:gd name="T3" fmla="*/ 22 h 31"/>
                  <a:gd name="T4" fmla="*/ 253 w 255"/>
                  <a:gd name="T5" fmla="*/ 22 h 31"/>
                  <a:gd name="T6" fmla="*/ 251 w 255"/>
                  <a:gd name="T7" fmla="*/ 17 h 31"/>
                  <a:gd name="T8" fmla="*/ 157 w 255"/>
                  <a:gd name="T9" fmla="*/ 17 h 31"/>
                  <a:gd name="T10" fmla="*/ 157 w 255"/>
                  <a:gd name="T11" fmla="*/ 12 h 31"/>
                  <a:gd name="T12" fmla="*/ 248 w 255"/>
                  <a:gd name="T13" fmla="*/ 12 h 31"/>
                  <a:gd name="T14" fmla="*/ 193 w 255"/>
                  <a:gd name="T15" fmla="*/ 2 h 31"/>
                  <a:gd name="T16" fmla="*/ 136 w 255"/>
                  <a:gd name="T17" fmla="*/ 13 h 31"/>
                  <a:gd name="T18" fmla="*/ 136 w 255"/>
                  <a:gd name="T19" fmla="*/ 17 h 31"/>
                  <a:gd name="T20" fmla="*/ 127 w 255"/>
                  <a:gd name="T21" fmla="*/ 17 h 31"/>
                  <a:gd name="T22" fmla="*/ 119 w 255"/>
                  <a:gd name="T23" fmla="*/ 17 h 31"/>
                  <a:gd name="T24" fmla="*/ 119 w 255"/>
                  <a:gd name="T25" fmla="*/ 14 h 31"/>
                  <a:gd name="T26" fmla="*/ 61 w 255"/>
                  <a:gd name="T27" fmla="*/ 0 h 31"/>
                  <a:gd name="T28" fmla="*/ 6 w 255"/>
                  <a:gd name="T29" fmla="*/ 10 h 31"/>
                  <a:gd name="T30" fmla="*/ 97 w 255"/>
                  <a:gd name="T31" fmla="*/ 10 h 31"/>
                  <a:gd name="T32" fmla="*/ 97 w 255"/>
                  <a:gd name="T33" fmla="*/ 14 h 31"/>
                  <a:gd name="T34" fmla="*/ 2 w 255"/>
                  <a:gd name="T35" fmla="*/ 14 h 31"/>
                  <a:gd name="T36" fmla="*/ 2 w 255"/>
                  <a:gd name="T37" fmla="*/ 19 h 31"/>
                  <a:gd name="T38" fmla="*/ 109 w 255"/>
                  <a:gd name="T39" fmla="*/ 19 h 31"/>
                  <a:gd name="T40" fmla="*/ 109 w 255"/>
                  <a:gd name="T41" fmla="*/ 24 h 31"/>
                  <a:gd name="T42" fmla="*/ 1 w 255"/>
                  <a:gd name="T43" fmla="*/ 24 h 31"/>
                  <a:gd name="T44" fmla="*/ 0 w 255"/>
                  <a:gd name="T45" fmla="*/ 31 h 31"/>
                  <a:gd name="T46" fmla="*/ 255 w 255"/>
                  <a:gd name="T47" fmla="*/ 31 h 31"/>
                  <a:gd name="T48" fmla="*/ 254 w 255"/>
                  <a:gd name="T49" fmla="*/ 26 h 31"/>
                  <a:gd name="T50" fmla="*/ 145 w 255"/>
                  <a:gd name="T5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5" h="31">
                    <a:moveTo>
                      <a:pt x="145" y="26"/>
                    </a:moveTo>
                    <a:cubicBezTo>
                      <a:pt x="145" y="22"/>
                      <a:pt x="145" y="22"/>
                      <a:pt x="145" y="22"/>
                    </a:cubicBezTo>
                    <a:cubicBezTo>
                      <a:pt x="253" y="22"/>
                      <a:pt x="253" y="22"/>
                      <a:pt x="253" y="22"/>
                    </a:cubicBezTo>
                    <a:cubicBezTo>
                      <a:pt x="251" y="17"/>
                      <a:pt x="251" y="17"/>
                      <a:pt x="251" y="17"/>
                    </a:cubicBezTo>
                    <a:cubicBezTo>
                      <a:pt x="157" y="17"/>
                      <a:pt x="157" y="17"/>
                      <a:pt x="157" y="17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42" y="8"/>
                      <a:pt x="223" y="2"/>
                      <a:pt x="193" y="2"/>
                    </a:cubicBezTo>
                    <a:cubicBezTo>
                      <a:pt x="163" y="2"/>
                      <a:pt x="142" y="8"/>
                      <a:pt x="136" y="13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9"/>
                      <a:pt x="99" y="0"/>
                      <a:pt x="61" y="0"/>
                    </a:cubicBezTo>
                    <a:cubicBezTo>
                      <a:pt x="33" y="0"/>
                      <a:pt x="14" y="5"/>
                      <a:pt x="6" y="10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09" y="19"/>
                      <a:pt x="109" y="19"/>
                      <a:pt x="109" y="19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55" y="31"/>
                      <a:pt x="255" y="31"/>
                      <a:pt x="255" y="31"/>
                    </a:cubicBezTo>
                    <a:cubicBezTo>
                      <a:pt x="254" y="26"/>
                      <a:pt x="254" y="26"/>
                      <a:pt x="254" y="26"/>
                    </a:cubicBezTo>
                    <a:lnTo>
                      <a:pt x="145" y="26"/>
                    </a:lnTo>
                    <a:close/>
                  </a:path>
                </a:pathLst>
              </a:custGeom>
              <a:solidFill>
                <a:srgbClr val="666E8A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任意多边形: 形状 81"/>
              <p:cNvSpPr>
                <a:spLocks noEditPoints="1"/>
              </p:cNvSpPr>
              <p:nvPr/>
            </p:nvSpPr>
            <p:spPr bwMode="auto">
              <a:xfrm>
                <a:off x="165311" y="4159666"/>
                <a:ext cx="466385" cy="568950"/>
              </a:xfrm>
              <a:custGeom>
                <a:avLst/>
                <a:gdLst>
                  <a:gd name="T0" fmla="*/ 62 w 124"/>
                  <a:gd name="T1" fmla="*/ 134 h 151"/>
                  <a:gd name="T2" fmla="*/ 124 w 124"/>
                  <a:gd name="T3" fmla="*/ 151 h 151"/>
                  <a:gd name="T4" fmla="*/ 124 w 124"/>
                  <a:gd name="T5" fmla="*/ 151 h 151"/>
                  <a:gd name="T6" fmla="*/ 124 w 124"/>
                  <a:gd name="T7" fmla="*/ 17 h 151"/>
                  <a:gd name="T8" fmla="*/ 124 w 124"/>
                  <a:gd name="T9" fmla="*/ 17 h 151"/>
                  <a:gd name="T10" fmla="*/ 62 w 124"/>
                  <a:gd name="T11" fmla="*/ 0 h 151"/>
                  <a:gd name="T12" fmla="*/ 1 w 124"/>
                  <a:gd name="T13" fmla="*/ 17 h 151"/>
                  <a:gd name="T14" fmla="*/ 0 w 124"/>
                  <a:gd name="T15" fmla="*/ 17 h 151"/>
                  <a:gd name="T16" fmla="*/ 0 w 124"/>
                  <a:gd name="T17" fmla="*/ 149 h 151"/>
                  <a:gd name="T18" fmla="*/ 62 w 124"/>
                  <a:gd name="T19" fmla="*/ 134 h 151"/>
                  <a:gd name="T20" fmla="*/ 111 w 124"/>
                  <a:gd name="T21" fmla="*/ 75 h 151"/>
                  <a:gd name="T22" fmla="*/ 61 w 124"/>
                  <a:gd name="T23" fmla="*/ 67 h 151"/>
                  <a:gd name="T24" fmla="*/ 12 w 124"/>
                  <a:gd name="T25" fmla="*/ 75 h 151"/>
                  <a:gd name="T26" fmla="*/ 12 w 124"/>
                  <a:gd name="T27" fmla="*/ 69 h 151"/>
                  <a:gd name="T28" fmla="*/ 61 w 124"/>
                  <a:gd name="T29" fmla="*/ 61 h 151"/>
                  <a:gd name="T30" fmla="*/ 111 w 124"/>
                  <a:gd name="T31" fmla="*/ 69 h 151"/>
                  <a:gd name="T32" fmla="*/ 111 w 124"/>
                  <a:gd name="T33" fmla="*/ 75 h 151"/>
                  <a:gd name="T34" fmla="*/ 12 w 124"/>
                  <a:gd name="T35" fmla="*/ 31 h 151"/>
                  <a:gd name="T36" fmla="*/ 61 w 124"/>
                  <a:gd name="T37" fmla="*/ 23 h 151"/>
                  <a:gd name="T38" fmla="*/ 111 w 124"/>
                  <a:gd name="T39" fmla="*/ 31 h 151"/>
                  <a:gd name="T40" fmla="*/ 111 w 124"/>
                  <a:gd name="T41" fmla="*/ 37 h 151"/>
                  <a:gd name="T42" fmla="*/ 61 w 124"/>
                  <a:gd name="T43" fmla="*/ 29 h 151"/>
                  <a:gd name="T44" fmla="*/ 12 w 124"/>
                  <a:gd name="T45" fmla="*/ 37 h 151"/>
                  <a:gd name="T46" fmla="*/ 12 w 124"/>
                  <a:gd name="T47" fmla="*/ 31 h 151"/>
                  <a:gd name="T48" fmla="*/ 12 w 124"/>
                  <a:gd name="T49" fmla="*/ 50 h 151"/>
                  <a:gd name="T50" fmla="*/ 61 w 124"/>
                  <a:gd name="T51" fmla="*/ 43 h 151"/>
                  <a:gd name="T52" fmla="*/ 111 w 124"/>
                  <a:gd name="T53" fmla="*/ 50 h 151"/>
                  <a:gd name="T54" fmla="*/ 111 w 124"/>
                  <a:gd name="T55" fmla="*/ 56 h 151"/>
                  <a:gd name="T56" fmla="*/ 61 w 124"/>
                  <a:gd name="T57" fmla="*/ 49 h 151"/>
                  <a:gd name="T58" fmla="*/ 12 w 124"/>
                  <a:gd name="T59" fmla="*/ 56 h 151"/>
                  <a:gd name="T60" fmla="*/ 12 w 124"/>
                  <a:gd name="T61" fmla="*/ 50 h 151"/>
                  <a:gd name="T62" fmla="*/ 12 w 124"/>
                  <a:gd name="T63" fmla="*/ 88 h 151"/>
                  <a:gd name="T64" fmla="*/ 61 w 124"/>
                  <a:gd name="T65" fmla="*/ 80 h 151"/>
                  <a:gd name="T66" fmla="*/ 111 w 124"/>
                  <a:gd name="T67" fmla="*/ 88 h 151"/>
                  <a:gd name="T68" fmla="*/ 111 w 124"/>
                  <a:gd name="T69" fmla="*/ 94 h 151"/>
                  <a:gd name="T70" fmla="*/ 61 w 124"/>
                  <a:gd name="T71" fmla="*/ 87 h 151"/>
                  <a:gd name="T72" fmla="*/ 12 w 124"/>
                  <a:gd name="T73" fmla="*/ 94 h 151"/>
                  <a:gd name="T74" fmla="*/ 12 w 124"/>
                  <a:gd name="T75" fmla="*/ 8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51">
                    <a:moveTo>
                      <a:pt x="62" y="134"/>
                    </a:moveTo>
                    <a:cubicBezTo>
                      <a:pt x="96" y="134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2" y="8"/>
                      <a:pt x="95" y="0"/>
                      <a:pt x="62" y="0"/>
                    </a:cubicBezTo>
                    <a:cubicBezTo>
                      <a:pt x="29" y="0"/>
                      <a:pt x="2" y="8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4" y="140"/>
                      <a:pt x="30" y="134"/>
                      <a:pt x="62" y="134"/>
                    </a:cubicBezTo>
                    <a:close/>
                    <a:moveTo>
                      <a:pt x="111" y="75"/>
                    </a:moveTo>
                    <a:cubicBezTo>
                      <a:pt x="103" y="71"/>
                      <a:pt x="86" y="67"/>
                      <a:pt x="61" y="67"/>
                    </a:cubicBezTo>
                    <a:cubicBezTo>
                      <a:pt x="37" y="67"/>
                      <a:pt x="20" y="71"/>
                      <a:pt x="12" y="75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7" y="66"/>
                      <a:pt x="35" y="61"/>
                      <a:pt x="61" y="61"/>
                    </a:cubicBezTo>
                    <a:cubicBezTo>
                      <a:pt x="88" y="61"/>
                      <a:pt x="105" y="66"/>
                      <a:pt x="111" y="69"/>
                    </a:cubicBezTo>
                    <a:lnTo>
                      <a:pt x="111" y="75"/>
                    </a:lnTo>
                    <a:close/>
                    <a:moveTo>
                      <a:pt x="12" y="31"/>
                    </a:moveTo>
                    <a:cubicBezTo>
                      <a:pt x="17" y="28"/>
                      <a:pt x="35" y="23"/>
                      <a:pt x="61" y="23"/>
                    </a:cubicBezTo>
                    <a:cubicBezTo>
                      <a:pt x="88" y="23"/>
                      <a:pt x="105" y="28"/>
                      <a:pt x="111" y="31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03" y="33"/>
                      <a:pt x="86" y="29"/>
                      <a:pt x="61" y="29"/>
                    </a:cubicBezTo>
                    <a:cubicBezTo>
                      <a:pt x="37" y="29"/>
                      <a:pt x="20" y="33"/>
                      <a:pt x="12" y="37"/>
                    </a:cubicBezTo>
                    <a:lnTo>
                      <a:pt x="12" y="31"/>
                    </a:lnTo>
                    <a:close/>
                    <a:moveTo>
                      <a:pt x="12" y="50"/>
                    </a:moveTo>
                    <a:cubicBezTo>
                      <a:pt x="17" y="48"/>
                      <a:pt x="34" y="43"/>
                      <a:pt x="61" y="43"/>
                    </a:cubicBezTo>
                    <a:cubicBezTo>
                      <a:pt x="88" y="43"/>
                      <a:pt x="105" y="48"/>
                      <a:pt x="111" y="50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03" y="53"/>
                      <a:pt x="86" y="49"/>
                      <a:pt x="61" y="49"/>
                    </a:cubicBezTo>
                    <a:cubicBezTo>
                      <a:pt x="37" y="49"/>
                      <a:pt x="20" y="53"/>
                      <a:pt x="12" y="56"/>
                    </a:cubicBezTo>
                    <a:lnTo>
                      <a:pt x="12" y="50"/>
                    </a:lnTo>
                    <a:close/>
                    <a:moveTo>
                      <a:pt x="12" y="88"/>
                    </a:moveTo>
                    <a:cubicBezTo>
                      <a:pt x="17" y="85"/>
                      <a:pt x="34" y="80"/>
                      <a:pt x="61" y="80"/>
                    </a:cubicBezTo>
                    <a:cubicBezTo>
                      <a:pt x="88" y="80"/>
                      <a:pt x="105" y="85"/>
                      <a:pt x="111" y="88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03" y="91"/>
                      <a:pt x="86" y="87"/>
                      <a:pt x="61" y="87"/>
                    </a:cubicBezTo>
                    <a:cubicBezTo>
                      <a:pt x="37" y="87"/>
                      <a:pt x="20" y="91"/>
                      <a:pt x="12" y="94"/>
                    </a:cubicBezTo>
                    <a:lnTo>
                      <a:pt x="12" y="88"/>
                    </a:lnTo>
                    <a:close/>
                  </a:path>
                </a:pathLst>
              </a:custGeom>
              <a:solidFill>
                <a:srgbClr val="666E8A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 bwMode="auto">
              <a:xfrm>
                <a:off x="926573" y="4237934"/>
                <a:ext cx="132394" cy="135464"/>
              </a:xfrm>
              <a:custGeom>
                <a:avLst/>
                <a:gdLst>
                  <a:gd name="T0" fmla="*/ 35 w 35"/>
                  <a:gd name="T1" fmla="*/ 36 h 36"/>
                  <a:gd name="T2" fmla="*/ 35 w 35"/>
                  <a:gd name="T3" fmla="*/ 6 h 36"/>
                  <a:gd name="T4" fmla="*/ 0 w 35"/>
                  <a:gd name="T5" fmla="*/ 0 h 36"/>
                  <a:gd name="T6" fmla="*/ 0 w 35"/>
                  <a:gd name="T7" fmla="*/ 31 h 36"/>
                  <a:gd name="T8" fmla="*/ 35 w 3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6">
                    <a:moveTo>
                      <a:pt x="35" y="3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4"/>
                      <a:pt x="17" y="1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2"/>
                      <a:pt x="26" y="34"/>
                      <a:pt x="35" y="36"/>
                    </a:cubicBezTo>
                    <a:close/>
                  </a:path>
                </a:pathLst>
              </a:custGeom>
              <a:solidFill>
                <a:srgbClr val="666E8A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任意多边形: 形状 83"/>
              <p:cNvSpPr>
                <a:spLocks noEditPoints="1"/>
              </p:cNvSpPr>
              <p:nvPr/>
            </p:nvSpPr>
            <p:spPr bwMode="auto">
              <a:xfrm>
                <a:off x="661786" y="4168696"/>
                <a:ext cx="466387" cy="568952"/>
              </a:xfrm>
              <a:custGeom>
                <a:avLst/>
                <a:gdLst>
                  <a:gd name="T0" fmla="*/ 124 w 124"/>
                  <a:gd name="T1" fmla="*/ 17 h 151"/>
                  <a:gd name="T2" fmla="*/ 62 w 124"/>
                  <a:gd name="T3" fmla="*/ 0 h 151"/>
                  <a:gd name="T4" fmla="*/ 1 w 124"/>
                  <a:gd name="T5" fmla="*/ 17 h 151"/>
                  <a:gd name="T6" fmla="*/ 0 w 124"/>
                  <a:gd name="T7" fmla="*/ 17 h 151"/>
                  <a:gd name="T8" fmla="*/ 0 w 124"/>
                  <a:gd name="T9" fmla="*/ 148 h 151"/>
                  <a:gd name="T10" fmla="*/ 62 w 124"/>
                  <a:gd name="T11" fmla="*/ 133 h 151"/>
                  <a:gd name="T12" fmla="*/ 124 w 124"/>
                  <a:gd name="T13" fmla="*/ 151 h 151"/>
                  <a:gd name="T14" fmla="*/ 124 w 124"/>
                  <a:gd name="T15" fmla="*/ 151 h 151"/>
                  <a:gd name="T16" fmla="*/ 124 w 124"/>
                  <a:gd name="T17" fmla="*/ 17 h 151"/>
                  <a:gd name="T18" fmla="*/ 112 w 124"/>
                  <a:gd name="T19" fmla="*/ 76 h 151"/>
                  <a:gd name="T20" fmla="*/ 112 w 124"/>
                  <a:gd name="T21" fmla="*/ 82 h 151"/>
                  <a:gd name="T22" fmla="*/ 62 w 124"/>
                  <a:gd name="T23" fmla="*/ 74 h 151"/>
                  <a:gd name="T24" fmla="*/ 13 w 124"/>
                  <a:gd name="T25" fmla="*/ 82 h 151"/>
                  <a:gd name="T26" fmla="*/ 13 w 124"/>
                  <a:gd name="T27" fmla="*/ 76 h 151"/>
                  <a:gd name="T28" fmla="*/ 62 w 124"/>
                  <a:gd name="T29" fmla="*/ 68 h 151"/>
                  <a:gd name="T30" fmla="*/ 112 w 124"/>
                  <a:gd name="T31" fmla="*/ 76 h 151"/>
                  <a:gd name="T32" fmla="*/ 13 w 124"/>
                  <a:gd name="T33" fmla="*/ 30 h 151"/>
                  <a:gd name="T34" fmla="*/ 55 w 124"/>
                  <a:gd name="T35" fmla="*/ 22 h 151"/>
                  <a:gd name="T36" fmla="*/ 55 w 124"/>
                  <a:gd name="T37" fmla="*/ 28 h 151"/>
                  <a:gd name="T38" fmla="*/ 13 w 124"/>
                  <a:gd name="T39" fmla="*/ 36 h 151"/>
                  <a:gd name="T40" fmla="*/ 13 w 124"/>
                  <a:gd name="T41" fmla="*/ 30 h 151"/>
                  <a:gd name="T42" fmla="*/ 13 w 124"/>
                  <a:gd name="T43" fmla="*/ 49 h 151"/>
                  <a:gd name="T44" fmla="*/ 55 w 124"/>
                  <a:gd name="T45" fmla="*/ 42 h 151"/>
                  <a:gd name="T46" fmla="*/ 55 w 124"/>
                  <a:gd name="T47" fmla="*/ 48 h 151"/>
                  <a:gd name="T48" fmla="*/ 13 w 124"/>
                  <a:gd name="T49" fmla="*/ 55 h 151"/>
                  <a:gd name="T50" fmla="*/ 13 w 124"/>
                  <a:gd name="T51" fmla="*/ 49 h 151"/>
                  <a:gd name="T52" fmla="*/ 112 w 124"/>
                  <a:gd name="T53" fmla="*/ 119 h 151"/>
                  <a:gd name="T54" fmla="*/ 62 w 124"/>
                  <a:gd name="T55" fmla="*/ 112 h 151"/>
                  <a:gd name="T56" fmla="*/ 13 w 124"/>
                  <a:gd name="T57" fmla="*/ 119 h 151"/>
                  <a:gd name="T58" fmla="*/ 13 w 124"/>
                  <a:gd name="T59" fmla="*/ 114 h 151"/>
                  <a:gd name="T60" fmla="*/ 62 w 124"/>
                  <a:gd name="T61" fmla="*/ 106 h 151"/>
                  <a:gd name="T62" fmla="*/ 112 w 124"/>
                  <a:gd name="T63" fmla="*/ 114 h 151"/>
                  <a:gd name="T64" fmla="*/ 112 w 124"/>
                  <a:gd name="T65" fmla="*/ 119 h 151"/>
                  <a:gd name="T66" fmla="*/ 112 w 124"/>
                  <a:gd name="T67" fmla="*/ 100 h 151"/>
                  <a:gd name="T68" fmla="*/ 62 w 124"/>
                  <a:gd name="T69" fmla="*/ 92 h 151"/>
                  <a:gd name="T70" fmla="*/ 13 w 124"/>
                  <a:gd name="T71" fmla="*/ 100 h 151"/>
                  <a:gd name="T72" fmla="*/ 13 w 124"/>
                  <a:gd name="T73" fmla="*/ 94 h 151"/>
                  <a:gd name="T74" fmla="*/ 62 w 124"/>
                  <a:gd name="T75" fmla="*/ 86 h 151"/>
                  <a:gd name="T76" fmla="*/ 112 w 124"/>
                  <a:gd name="T77" fmla="*/ 94 h 151"/>
                  <a:gd name="T78" fmla="*/ 112 w 124"/>
                  <a:gd name="T79" fmla="*/ 100 h 151"/>
                  <a:gd name="T80" fmla="*/ 112 w 124"/>
                  <a:gd name="T81" fmla="*/ 65 h 151"/>
                  <a:gd name="T82" fmla="*/ 65 w 124"/>
                  <a:gd name="T83" fmla="*/ 57 h 151"/>
                  <a:gd name="T84" fmla="*/ 65 w 124"/>
                  <a:gd name="T85" fmla="*/ 12 h 151"/>
                  <a:gd name="T86" fmla="*/ 112 w 124"/>
                  <a:gd name="T87" fmla="*/ 21 h 151"/>
                  <a:gd name="T88" fmla="*/ 112 w 124"/>
                  <a:gd name="T89" fmla="*/ 6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4" h="151">
                    <a:moveTo>
                      <a:pt x="124" y="17"/>
                    </a:moveTo>
                    <a:cubicBezTo>
                      <a:pt x="123" y="7"/>
                      <a:pt x="96" y="0"/>
                      <a:pt x="62" y="0"/>
                    </a:cubicBezTo>
                    <a:cubicBezTo>
                      <a:pt x="29" y="0"/>
                      <a:pt x="2" y="7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4" y="140"/>
                      <a:pt x="30" y="133"/>
                      <a:pt x="62" y="133"/>
                    </a:cubicBezTo>
                    <a:cubicBezTo>
                      <a:pt x="96" y="133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lose/>
                    <a:moveTo>
                      <a:pt x="112" y="76"/>
                    </a:moveTo>
                    <a:cubicBezTo>
                      <a:pt x="112" y="82"/>
                      <a:pt x="112" y="82"/>
                      <a:pt x="112" y="82"/>
                    </a:cubicBezTo>
                    <a:cubicBezTo>
                      <a:pt x="104" y="78"/>
                      <a:pt x="87" y="74"/>
                      <a:pt x="62" y="74"/>
                    </a:cubicBezTo>
                    <a:cubicBezTo>
                      <a:pt x="38" y="74"/>
                      <a:pt x="21" y="78"/>
                      <a:pt x="13" y="82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8" y="73"/>
                      <a:pt x="35" y="68"/>
                      <a:pt x="62" y="68"/>
                    </a:cubicBezTo>
                    <a:cubicBezTo>
                      <a:pt x="89" y="68"/>
                      <a:pt x="106" y="73"/>
                      <a:pt x="112" y="76"/>
                    </a:cubicBezTo>
                    <a:close/>
                    <a:moveTo>
                      <a:pt x="13" y="30"/>
                    </a:moveTo>
                    <a:cubicBezTo>
                      <a:pt x="18" y="27"/>
                      <a:pt x="32" y="23"/>
                      <a:pt x="55" y="22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34" y="29"/>
                      <a:pt x="20" y="33"/>
                      <a:pt x="13" y="36"/>
                    </a:cubicBezTo>
                    <a:lnTo>
                      <a:pt x="13" y="30"/>
                    </a:lnTo>
                    <a:close/>
                    <a:moveTo>
                      <a:pt x="13" y="49"/>
                    </a:moveTo>
                    <a:cubicBezTo>
                      <a:pt x="18" y="47"/>
                      <a:pt x="32" y="42"/>
                      <a:pt x="55" y="42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34" y="49"/>
                      <a:pt x="20" y="52"/>
                      <a:pt x="13" y="55"/>
                    </a:cubicBezTo>
                    <a:lnTo>
                      <a:pt x="13" y="49"/>
                    </a:lnTo>
                    <a:close/>
                    <a:moveTo>
                      <a:pt x="112" y="119"/>
                    </a:moveTo>
                    <a:cubicBezTo>
                      <a:pt x="104" y="116"/>
                      <a:pt x="87" y="112"/>
                      <a:pt x="62" y="112"/>
                    </a:cubicBezTo>
                    <a:cubicBezTo>
                      <a:pt x="38" y="112"/>
                      <a:pt x="21" y="116"/>
                      <a:pt x="13" y="119"/>
                    </a:cubicBezTo>
                    <a:cubicBezTo>
                      <a:pt x="13" y="114"/>
                      <a:pt x="13" y="114"/>
                      <a:pt x="13" y="114"/>
                    </a:cubicBezTo>
                    <a:cubicBezTo>
                      <a:pt x="18" y="111"/>
                      <a:pt x="35" y="106"/>
                      <a:pt x="62" y="106"/>
                    </a:cubicBezTo>
                    <a:cubicBezTo>
                      <a:pt x="89" y="106"/>
                      <a:pt x="106" y="111"/>
                      <a:pt x="112" y="114"/>
                    </a:cubicBezTo>
                    <a:lnTo>
                      <a:pt x="112" y="119"/>
                    </a:lnTo>
                    <a:close/>
                    <a:moveTo>
                      <a:pt x="112" y="100"/>
                    </a:moveTo>
                    <a:cubicBezTo>
                      <a:pt x="104" y="97"/>
                      <a:pt x="87" y="92"/>
                      <a:pt x="62" y="92"/>
                    </a:cubicBezTo>
                    <a:cubicBezTo>
                      <a:pt x="38" y="92"/>
                      <a:pt x="21" y="97"/>
                      <a:pt x="13" y="100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8" y="91"/>
                      <a:pt x="36" y="86"/>
                      <a:pt x="62" y="86"/>
                    </a:cubicBezTo>
                    <a:cubicBezTo>
                      <a:pt x="89" y="86"/>
                      <a:pt x="106" y="91"/>
                      <a:pt x="112" y="94"/>
                    </a:cubicBezTo>
                    <a:lnTo>
                      <a:pt x="112" y="100"/>
                    </a:lnTo>
                    <a:close/>
                    <a:moveTo>
                      <a:pt x="112" y="65"/>
                    </a:moveTo>
                    <a:cubicBezTo>
                      <a:pt x="106" y="62"/>
                      <a:pt x="90" y="57"/>
                      <a:pt x="65" y="57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90" y="13"/>
                      <a:pt x="107" y="18"/>
                      <a:pt x="112" y="21"/>
                    </a:cubicBezTo>
                    <a:lnTo>
                      <a:pt x="112" y="65"/>
                    </a:lnTo>
                    <a:close/>
                  </a:path>
                </a:pathLst>
              </a:custGeom>
              <a:solidFill>
                <a:srgbClr val="666E8A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4" name="文本框 33">
            <a:extLst>
              <a:ext uri="{FF2B5EF4-FFF2-40B4-BE49-F238E27FC236}">
                <a16:creationId xmlns:a16="http://schemas.microsoft.com/office/drawing/2014/main" id="{A8FAE680-2E95-77D8-5385-0BB57FC6835C}"/>
              </a:ext>
            </a:extLst>
          </p:cNvPr>
          <p:cNvSpPr txBox="1"/>
          <p:nvPr/>
        </p:nvSpPr>
        <p:spPr>
          <a:xfrm>
            <a:off x="7680390" y="4289822"/>
            <a:ext cx="2381510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itchFamily="18" charset="0"/>
              </a:rPr>
              <a:t>承担二维平面素材制作工作。在项目中完成平面图形绘制、素材排版，输出规整的二维平面图纸，作为三维建模的基础素材。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71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BC105C-CA39-4EA9-A5C0-27444351B7DE}"/>
              </a:ext>
            </a:extLst>
          </p:cNvPr>
          <p:cNvSpPr/>
          <p:nvPr/>
        </p:nvSpPr>
        <p:spPr>
          <a:xfrm>
            <a:off x="1791232" y="2704755"/>
            <a:ext cx="1619250" cy="1490436"/>
          </a:xfrm>
          <a:prstGeom prst="rect">
            <a:avLst/>
          </a:prstGeom>
          <a:solidFill>
            <a:srgbClr val="666E8A"/>
          </a:solidFill>
          <a:ln w="19050">
            <a:solidFill>
              <a:srgbClr val="666E8A"/>
            </a:solidFill>
            <a:prstDash val="sysDash"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006E0-01D9-4172-B66E-3EC74AE862C2}"/>
              </a:ext>
            </a:extLst>
          </p:cNvPr>
          <p:cNvSpPr txBox="1"/>
          <p:nvPr/>
        </p:nvSpPr>
        <p:spPr>
          <a:xfrm>
            <a:off x="4858521" y="3283850"/>
            <a:ext cx="5954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zh-CN" altLang="en-US" sz="4400" b="1" dirty="0">
                <a:solidFill>
                  <a:srgbClr val="3C475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研究步骤与实际情况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405E7F2-AE24-442C-835A-C03020E6CC93}"/>
              </a:ext>
            </a:extLst>
          </p:cNvPr>
          <p:cNvCxnSpPr>
            <a:cxnSpLocks/>
          </p:cNvCxnSpPr>
          <p:nvPr/>
        </p:nvCxnSpPr>
        <p:spPr>
          <a:xfrm>
            <a:off x="343192" y="426595"/>
            <a:ext cx="11466857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0A14302-A920-4239-ABC7-0D9FDF0BD251}"/>
              </a:ext>
            </a:extLst>
          </p:cNvPr>
          <p:cNvSpPr/>
          <p:nvPr/>
        </p:nvSpPr>
        <p:spPr>
          <a:xfrm>
            <a:off x="8279716" y="416294"/>
            <a:ext cx="3530333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FEA713E-0E0B-4041-9714-AE06AB77E284}"/>
              </a:ext>
            </a:extLst>
          </p:cNvPr>
          <p:cNvCxnSpPr>
            <a:cxnSpLocks/>
          </p:cNvCxnSpPr>
          <p:nvPr/>
        </p:nvCxnSpPr>
        <p:spPr>
          <a:xfrm flipV="1">
            <a:off x="343192" y="416294"/>
            <a:ext cx="0" cy="6036337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F26945A-197A-4378-950B-2D044CA0447A}"/>
              </a:ext>
            </a:extLst>
          </p:cNvPr>
          <p:cNvCxnSpPr>
            <a:cxnSpLocks/>
          </p:cNvCxnSpPr>
          <p:nvPr/>
        </p:nvCxnSpPr>
        <p:spPr>
          <a:xfrm>
            <a:off x="566372" y="6465843"/>
            <a:ext cx="11020498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09195D5-376F-433A-8451-B5DE75F67F78}"/>
              </a:ext>
            </a:extLst>
          </p:cNvPr>
          <p:cNvSpPr/>
          <p:nvPr/>
        </p:nvSpPr>
        <p:spPr>
          <a:xfrm>
            <a:off x="566372" y="6298051"/>
            <a:ext cx="2288696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D40A66A-185F-443F-AFEA-B338493B866A}"/>
              </a:ext>
            </a:extLst>
          </p:cNvPr>
          <p:cNvCxnSpPr>
            <a:cxnSpLocks/>
          </p:cNvCxnSpPr>
          <p:nvPr/>
        </p:nvCxnSpPr>
        <p:spPr>
          <a:xfrm flipV="1">
            <a:off x="3790739" y="4188593"/>
            <a:ext cx="6852277" cy="1"/>
          </a:xfrm>
          <a:prstGeom prst="line">
            <a:avLst/>
          </a:prstGeom>
          <a:ln w="190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99C39CF-7A99-4E05-A3DD-3BF8D617D4E7}"/>
              </a:ext>
            </a:extLst>
          </p:cNvPr>
          <p:cNvCxnSpPr>
            <a:cxnSpLocks/>
          </p:cNvCxnSpPr>
          <p:nvPr/>
        </p:nvCxnSpPr>
        <p:spPr>
          <a:xfrm>
            <a:off x="11810049" y="719528"/>
            <a:ext cx="0" cy="5746315"/>
          </a:xfrm>
          <a:prstGeom prst="line">
            <a:avLst/>
          </a:prstGeom>
          <a:ln w="1079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88427" y="3164809"/>
            <a:ext cx="12137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20180" y="2824827"/>
            <a:ext cx="1084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63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4" grpId="0" animBg="1"/>
      <p:bldP spid="37" grpId="0" animBg="1"/>
      <p:bldP spid="12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研究步骤</a:t>
            </a:r>
          </a:p>
        </p:txBody>
      </p:sp>
      <p:sp>
        <p:nvSpPr>
          <p:cNvPr id="23" name="箭头: 圆角右 22"/>
          <p:cNvSpPr/>
          <p:nvPr/>
        </p:nvSpPr>
        <p:spPr>
          <a:xfrm>
            <a:off x="6351327" y="3387094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444D57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4" name="箭头: 圆角右 23"/>
          <p:cNvSpPr/>
          <p:nvPr/>
        </p:nvSpPr>
        <p:spPr>
          <a:xfrm flipH="1">
            <a:off x="4667122" y="3387094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444D57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5" name="箭头: 圆角右 24"/>
          <p:cNvSpPr/>
          <p:nvPr/>
        </p:nvSpPr>
        <p:spPr>
          <a:xfrm>
            <a:off x="6711001" y="4318709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666E8A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6" name="箭头: 圆角右 25"/>
          <p:cNvSpPr/>
          <p:nvPr/>
        </p:nvSpPr>
        <p:spPr>
          <a:xfrm flipH="1">
            <a:off x="4310398" y="4318709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666E8A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7" name="箭头: 上 26"/>
          <p:cNvSpPr/>
          <p:nvPr/>
        </p:nvSpPr>
        <p:spPr>
          <a:xfrm>
            <a:off x="5814767" y="2949251"/>
            <a:ext cx="601422" cy="3556979"/>
          </a:xfrm>
          <a:prstGeom prst="upArrow">
            <a:avLst/>
          </a:prstGeom>
          <a:solidFill>
            <a:srgbClr val="666E8A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092006" y="4393478"/>
            <a:ext cx="3047567" cy="1799724"/>
            <a:chOff x="1546824" y="3791566"/>
            <a:chExt cx="2683028" cy="2076455"/>
          </a:xfrm>
        </p:grpSpPr>
        <p:sp>
          <p:nvSpPr>
            <p:cNvPr id="29" name="文本框 28"/>
            <p:cNvSpPr txBox="1"/>
            <p:nvPr/>
          </p:nvSpPr>
          <p:spPr>
            <a:xfrm>
              <a:off x="2502217" y="3791566"/>
              <a:ext cx="772241" cy="45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第一步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46824" y="4249129"/>
              <a:ext cx="2683028" cy="1618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我们需要明确要求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: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生成的是一个矿泉水瓶模型。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二维素材需要完美贴合在瓶身上，不能留有缝隙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二维素材上的图案，文字需要完整保留要删除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Blender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的默认模型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630077" y="2297055"/>
            <a:ext cx="2526392" cy="2021654"/>
            <a:chOff x="2129647" y="2146614"/>
            <a:chExt cx="2224194" cy="2332512"/>
          </a:xfrm>
        </p:grpSpPr>
        <p:sp>
          <p:nvSpPr>
            <p:cNvPr id="32" name="文本框 31"/>
            <p:cNvSpPr txBox="1"/>
            <p:nvPr/>
          </p:nvSpPr>
          <p:spPr>
            <a:xfrm>
              <a:off x="2855624" y="2146614"/>
              <a:ext cx="772241" cy="45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433D3C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第二步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129647" y="2604559"/>
              <a:ext cx="2224194" cy="1874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我们需要生成一个矿泉水瓶的初代模型</a:t>
              </a: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要求</a:t>
              </a: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这个模型应该以圆柱体作为瓶身</a:t>
              </a:r>
              <a:endParaRPr lang="en-US" altLang="zh-CN" sz="1200" dirty="0"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这个模型底部需要有螺纹</a:t>
              </a:r>
              <a:endParaRPr lang="en-US" altLang="zh-CN" sz="1200" dirty="0"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这个模型应该是透明的</a:t>
              </a:r>
              <a:endParaRPr lang="en-US" altLang="zh-CN" sz="1200" dirty="0"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4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这个模型底部需要有瓶盖，瓶盖颜色为白色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900026" y="1124052"/>
            <a:ext cx="2454823" cy="1597633"/>
            <a:chOff x="4973597" y="926834"/>
            <a:chExt cx="2161186" cy="1843290"/>
          </a:xfrm>
        </p:grpSpPr>
        <p:sp>
          <p:nvSpPr>
            <p:cNvPr id="35" name="文本框 34"/>
            <p:cNvSpPr txBox="1"/>
            <p:nvPr/>
          </p:nvSpPr>
          <p:spPr>
            <a:xfrm>
              <a:off x="5606352" y="926834"/>
              <a:ext cx="772241" cy="45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第三步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973597" y="1406904"/>
              <a:ext cx="2161186" cy="136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我们进行</a:t>
              </a: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UV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展开</a:t>
              </a: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要求</a:t>
              </a: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接缝处需要隐藏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不同面需要保持纹理一致。</a:t>
              </a:r>
              <a:endParaRPr lang="en-US" altLang="zh-CN" sz="1200" dirty="0"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200" dirty="0"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沿一条母线切开，侧面为矩形，底和顶盖处为圆形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035532" y="2002794"/>
            <a:ext cx="2454824" cy="1831000"/>
            <a:chOff x="7702299" y="2110914"/>
            <a:chExt cx="2161186" cy="2112540"/>
          </a:xfrm>
        </p:grpSpPr>
        <p:sp>
          <p:nvSpPr>
            <p:cNvPr id="38" name="文本框 37"/>
            <p:cNvSpPr txBox="1"/>
            <p:nvPr/>
          </p:nvSpPr>
          <p:spPr>
            <a:xfrm>
              <a:off x="8351818" y="2110914"/>
              <a:ext cx="772241" cy="45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433D3C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第四步</a:t>
              </a: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7702299" y="2604562"/>
              <a:ext cx="2161186" cy="1618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我们进行贴图环节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要求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要将二维素材当作标签。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瓶体需要透明的。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标签只需要包裹瓶身一圈，且上部分下部分留出部分空白。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4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瓶盖为不透明材质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175770" y="4458377"/>
            <a:ext cx="3492226" cy="2242922"/>
            <a:chOff x="8376585" y="3791574"/>
            <a:chExt cx="3074497" cy="2587801"/>
          </a:xfrm>
        </p:grpSpPr>
        <p:sp>
          <p:nvSpPr>
            <p:cNvPr id="41" name="文本框 40"/>
            <p:cNvSpPr txBox="1"/>
            <p:nvPr/>
          </p:nvSpPr>
          <p:spPr>
            <a:xfrm>
              <a:off x="9527713" y="3791574"/>
              <a:ext cx="772240" cy="4575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第五步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376585" y="4249137"/>
              <a:ext cx="3074497" cy="213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我们进行渲染环节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要求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: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我们采取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EEVEE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的引擎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2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采用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Transmission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的透明方式，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Base color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接近白色，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Transmission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设为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1.0,IOR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设为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1.575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需要适当有半透明阴影效果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4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需要生成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BPY3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脚本，该脚本需要自动跑通一次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5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清理临时对象和数据块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6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需要调节渲染参数，不依赖默认值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1125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遇到的问题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691" y="3295806"/>
            <a:ext cx="1322572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贴图文字丢失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DCDE7F-E93A-AC9B-7EDC-66510D337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63" y="4186951"/>
            <a:ext cx="2886023" cy="26710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247D98A-CEA2-9B8A-DC74-8707AD9BB6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62194"/>
            <a:ext cx="1853891" cy="32958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BC6E335-2281-E37A-6060-1B0E3D622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286" y="4200243"/>
            <a:ext cx="2886022" cy="2657758"/>
          </a:xfrm>
          <a:prstGeom prst="rect">
            <a:avLst/>
          </a:prstGeom>
        </p:spPr>
      </p:pic>
      <p:sp>
        <p:nvSpPr>
          <p:cNvPr id="14" name="文本框 2">
            <a:extLst>
              <a:ext uri="{FF2B5EF4-FFF2-40B4-BE49-F238E27FC236}">
                <a16:creationId xmlns:a16="http://schemas.microsoft.com/office/drawing/2014/main" id="{8224F5F0-3D01-43E9-8AC4-729A2B7A6D98}"/>
              </a:ext>
            </a:extLst>
          </p:cNvPr>
          <p:cNvSpPr txBox="1"/>
          <p:nvPr/>
        </p:nvSpPr>
        <p:spPr>
          <a:xfrm>
            <a:off x="2716959" y="3876087"/>
            <a:ext cx="2080623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折叠不齐有缝隙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5" name="文本框 2">
            <a:extLst>
              <a:ext uri="{FF2B5EF4-FFF2-40B4-BE49-F238E27FC236}">
                <a16:creationId xmlns:a16="http://schemas.microsoft.com/office/drawing/2014/main" id="{CA99A913-8F66-7F15-4470-2C62785AC6DA}"/>
              </a:ext>
            </a:extLst>
          </p:cNvPr>
          <p:cNvSpPr txBox="1"/>
          <p:nvPr/>
        </p:nvSpPr>
        <p:spPr>
          <a:xfrm>
            <a:off x="5748533" y="3835353"/>
            <a:ext cx="835181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代码错误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845060-BE03-2FC9-0EDD-96F2DEF0E3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66" y="2718149"/>
            <a:ext cx="2328667" cy="41398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76DFC48-003A-CF94-57AF-CFE66A81BF4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333" y="2718148"/>
            <a:ext cx="2328667" cy="4139852"/>
          </a:xfrm>
          <a:prstGeom prst="rect">
            <a:avLst/>
          </a:prstGeom>
        </p:spPr>
      </p:pic>
      <p:sp>
        <p:nvSpPr>
          <p:cNvPr id="8" name="文本框 2">
            <a:extLst>
              <a:ext uri="{FF2B5EF4-FFF2-40B4-BE49-F238E27FC236}">
                <a16:creationId xmlns:a16="http://schemas.microsoft.com/office/drawing/2014/main" id="{F2793EEB-5E67-CC94-297B-7DD49D38F56B}"/>
              </a:ext>
            </a:extLst>
          </p:cNvPr>
          <p:cNvSpPr txBox="1"/>
          <p:nvPr/>
        </p:nvSpPr>
        <p:spPr>
          <a:xfrm>
            <a:off x="8219192" y="2385865"/>
            <a:ext cx="1137750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生成样品混乱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10529353-FC9F-217B-1E09-DD894C371A77}"/>
              </a:ext>
            </a:extLst>
          </p:cNvPr>
          <p:cNvSpPr txBox="1"/>
          <p:nvPr/>
        </p:nvSpPr>
        <p:spPr>
          <a:xfrm>
            <a:off x="10696328" y="2336366"/>
            <a:ext cx="835181" cy="202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真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-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螺纹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892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实验记录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8D35FF-CE24-82C7-B75A-733D04EEE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658" y="1101189"/>
            <a:ext cx="6128951" cy="383059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248514-77E3-03DE-4F81-4AC0BDE48F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134" y="0"/>
            <a:ext cx="6260757" cy="39129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5C3F68-73A1-9564-C505-3F7D37AB07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38" y="1774632"/>
            <a:ext cx="5733534" cy="35834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73A491C-7828-0C73-8058-F02FBE7CA0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388" y="3202986"/>
            <a:ext cx="6194267" cy="38714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6EB8C6-734A-66B7-29EB-472319BDB5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03" y="2319263"/>
            <a:ext cx="6128953" cy="38305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6201FA-F6FF-5D73-69CF-7F9B26B320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759" y="340470"/>
            <a:ext cx="3393223" cy="56210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7F005A-D8AC-6EBF-FEB4-38B6C464F52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932" y="9395"/>
            <a:ext cx="4611306" cy="50499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3FABC88-2DFD-0DA7-C2AE-0D8E6293D60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648" y="2012789"/>
            <a:ext cx="6563188" cy="40991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F5786A-00C0-0243-0418-929CA7F70A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759" y="2631159"/>
            <a:ext cx="5051312" cy="518637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ED0F898-5A2F-4F86-A8B7-961C39E88A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39" y="896524"/>
            <a:ext cx="4640125" cy="553821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CACF876-91E6-C6E5-ED30-4775570064B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508" y="-6639"/>
            <a:ext cx="4783129" cy="449531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71D06F-DD28-B4BD-40E1-CED9B92E945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354" y="491351"/>
            <a:ext cx="5710333" cy="518637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BCEF6BF-C1D3-27EA-39BC-2E116711D8F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09" y="1690661"/>
            <a:ext cx="4056627" cy="486720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BAFFAD2-A375-EB7B-5A37-AA2227E4A1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742" y="727278"/>
            <a:ext cx="3287238" cy="43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197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6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1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6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1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6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1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6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6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1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BC105C-CA39-4EA9-A5C0-27444351B7DE}"/>
              </a:ext>
            </a:extLst>
          </p:cNvPr>
          <p:cNvSpPr/>
          <p:nvPr/>
        </p:nvSpPr>
        <p:spPr>
          <a:xfrm>
            <a:off x="1791232" y="2704755"/>
            <a:ext cx="1619250" cy="1490436"/>
          </a:xfrm>
          <a:prstGeom prst="rect">
            <a:avLst/>
          </a:prstGeom>
          <a:solidFill>
            <a:srgbClr val="666E8A"/>
          </a:solidFill>
          <a:ln w="19050">
            <a:solidFill>
              <a:srgbClr val="666E8A"/>
            </a:solidFill>
            <a:prstDash val="sysDash"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006E0-01D9-4172-B66E-3EC74AE862C2}"/>
              </a:ext>
            </a:extLst>
          </p:cNvPr>
          <p:cNvSpPr txBox="1"/>
          <p:nvPr/>
        </p:nvSpPr>
        <p:spPr>
          <a:xfrm>
            <a:off x="4688798" y="3194159"/>
            <a:ext cx="5954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zh-CN" altLang="en-US" sz="4400" b="1" dirty="0">
                <a:solidFill>
                  <a:srgbClr val="3C475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最终结果呈现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405E7F2-AE24-442C-835A-C03020E6CC93}"/>
              </a:ext>
            </a:extLst>
          </p:cNvPr>
          <p:cNvCxnSpPr>
            <a:cxnSpLocks/>
          </p:cNvCxnSpPr>
          <p:nvPr/>
        </p:nvCxnSpPr>
        <p:spPr>
          <a:xfrm>
            <a:off x="343192" y="426595"/>
            <a:ext cx="11466857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0A14302-A920-4239-ABC7-0D9FDF0BD251}"/>
              </a:ext>
            </a:extLst>
          </p:cNvPr>
          <p:cNvSpPr/>
          <p:nvPr/>
        </p:nvSpPr>
        <p:spPr>
          <a:xfrm>
            <a:off x="8279716" y="416294"/>
            <a:ext cx="3530333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FEA713E-0E0B-4041-9714-AE06AB77E284}"/>
              </a:ext>
            </a:extLst>
          </p:cNvPr>
          <p:cNvCxnSpPr>
            <a:cxnSpLocks/>
          </p:cNvCxnSpPr>
          <p:nvPr/>
        </p:nvCxnSpPr>
        <p:spPr>
          <a:xfrm flipV="1">
            <a:off x="343192" y="416294"/>
            <a:ext cx="0" cy="6036337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F26945A-197A-4378-950B-2D044CA0447A}"/>
              </a:ext>
            </a:extLst>
          </p:cNvPr>
          <p:cNvCxnSpPr>
            <a:cxnSpLocks/>
          </p:cNvCxnSpPr>
          <p:nvPr/>
        </p:nvCxnSpPr>
        <p:spPr>
          <a:xfrm>
            <a:off x="566372" y="6465843"/>
            <a:ext cx="11020498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09195D5-376F-433A-8451-B5DE75F67F78}"/>
              </a:ext>
            </a:extLst>
          </p:cNvPr>
          <p:cNvSpPr/>
          <p:nvPr/>
        </p:nvSpPr>
        <p:spPr>
          <a:xfrm>
            <a:off x="566372" y="6298051"/>
            <a:ext cx="2288696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D40A66A-185F-443F-AFEA-B338493B866A}"/>
              </a:ext>
            </a:extLst>
          </p:cNvPr>
          <p:cNvCxnSpPr>
            <a:cxnSpLocks/>
          </p:cNvCxnSpPr>
          <p:nvPr/>
        </p:nvCxnSpPr>
        <p:spPr>
          <a:xfrm flipV="1">
            <a:off x="3790739" y="4188593"/>
            <a:ext cx="6852277" cy="1"/>
          </a:xfrm>
          <a:prstGeom prst="line">
            <a:avLst/>
          </a:prstGeom>
          <a:ln w="190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99C39CF-7A99-4E05-A3DD-3BF8D617D4E7}"/>
              </a:ext>
            </a:extLst>
          </p:cNvPr>
          <p:cNvCxnSpPr>
            <a:cxnSpLocks/>
          </p:cNvCxnSpPr>
          <p:nvPr/>
        </p:nvCxnSpPr>
        <p:spPr>
          <a:xfrm>
            <a:off x="11810049" y="719528"/>
            <a:ext cx="0" cy="5746315"/>
          </a:xfrm>
          <a:prstGeom prst="line">
            <a:avLst/>
          </a:prstGeom>
          <a:ln w="1079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88427" y="3164809"/>
            <a:ext cx="12137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20180" y="2824827"/>
            <a:ext cx="1084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825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4" grpId="0" animBg="1"/>
      <p:bldP spid="37" grpId="0" animBg="1"/>
      <p:bldP spid="12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结果呈现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B5EAB05-45B1-211F-498E-D7DA733C631A}"/>
              </a:ext>
            </a:extLst>
          </p:cNvPr>
          <p:cNvSpPr txBox="1"/>
          <p:nvPr/>
        </p:nvSpPr>
        <p:spPr>
          <a:xfrm>
            <a:off x="878" y="2399098"/>
            <a:ext cx="2622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三维可旋转模型</a:t>
            </a:r>
            <a:endParaRPr lang="en-US" altLang="zh-CN" dirty="0"/>
          </a:p>
          <a:p>
            <a:r>
              <a:rPr lang="zh-CN" altLang="en-US" dirty="0"/>
              <a:t>见模型及渲染效果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25713B1-00F3-41A6-0B20-6711C6C5AC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175" y="4522081"/>
            <a:ext cx="5930480" cy="23140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0C1DDE-A33B-B62B-EDF7-E3D4CDA940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898" y="0"/>
            <a:ext cx="3857625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DF9E82F-C7F7-76ED-139A-FEFBC41AB556}"/>
              </a:ext>
            </a:extLst>
          </p:cNvPr>
          <p:cNvSpPr txBox="1"/>
          <p:nvPr/>
        </p:nvSpPr>
        <p:spPr>
          <a:xfrm>
            <a:off x="2069274" y="41527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二维素材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231C54-16C5-2A2B-8956-FA58901C52F7}"/>
              </a:ext>
            </a:extLst>
          </p:cNvPr>
          <p:cNvSpPr txBox="1"/>
          <p:nvPr/>
        </p:nvSpPr>
        <p:spPr>
          <a:xfrm>
            <a:off x="9068945" y="854633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初代效果图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2F1424-AF44-0D78-8C40-B4A1F981593D}"/>
              </a:ext>
            </a:extLst>
          </p:cNvPr>
          <p:cNvSpPr txBox="1"/>
          <p:nvPr/>
        </p:nvSpPr>
        <p:spPr>
          <a:xfrm>
            <a:off x="2464202" y="1235042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/>
              <a:t>二代效果图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84D33F0-EE68-1CE5-E3EA-D9D38326E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56" y="704700"/>
            <a:ext cx="5089842" cy="38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988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6BC105C-CA39-4EA9-A5C0-27444351B7DE}"/>
              </a:ext>
            </a:extLst>
          </p:cNvPr>
          <p:cNvSpPr/>
          <p:nvPr/>
        </p:nvSpPr>
        <p:spPr>
          <a:xfrm>
            <a:off x="1791232" y="2704755"/>
            <a:ext cx="1619250" cy="1490436"/>
          </a:xfrm>
          <a:prstGeom prst="rect">
            <a:avLst/>
          </a:prstGeom>
          <a:solidFill>
            <a:srgbClr val="666E8A"/>
          </a:solidFill>
          <a:ln w="19050">
            <a:solidFill>
              <a:srgbClr val="666E8A"/>
            </a:solidFill>
            <a:prstDash val="sysDash"/>
          </a:ln>
          <a:effectLst>
            <a:outerShdw blurRad="1016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7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B006E0-01D9-4172-B66E-3EC74AE862C2}"/>
              </a:ext>
            </a:extLst>
          </p:cNvPr>
          <p:cNvSpPr txBox="1"/>
          <p:nvPr/>
        </p:nvSpPr>
        <p:spPr>
          <a:xfrm>
            <a:off x="4776635" y="2699657"/>
            <a:ext cx="59542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200"/>
            <a:r>
              <a:rPr lang="zh-CN" altLang="en-US" sz="4400" b="1" dirty="0">
                <a:solidFill>
                  <a:srgbClr val="3C475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</a:rPr>
              <a:t>实验反思及工具优缺点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405E7F2-AE24-442C-835A-C03020E6CC93}"/>
              </a:ext>
            </a:extLst>
          </p:cNvPr>
          <p:cNvCxnSpPr>
            <a:cxnSpLocks/>
          </p:cNvCxnSpPr>
          <p:nvPr/>
        </p:nvCxnSpPr>
        <p:spPr>
          <a:xfrm>
            <a:off x="343192" y="426595"/>
            <a:ext cx="11466857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0A14302-A920-4239-ABC7-0D9FDF0BD251}"/>
              </a:ext>
            </a:extLst>
          </p:cNvPr>
          <p:cNvSpPr/>
          <p:nvPr/>
        </p:nvSpPr>
        <p:spPr>
          <a:xfrm>
            <a:off x="8279716" y="416294"/>
            <a:ext cx="3530333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FEA713E-0E0B-4041-9714-AE06AB77E284}"/>
              </a:ext>
            </a:extLst>
          </p:cNvPr>
          <p:cNvCxnSpPr>
            <a:cxnSpLocks/>
          </p:cNvCxnSpPr>
          <p:nvPr/>
        </p:nvCxnSpPr>
        <p:spPr>
          <a:xfrm flipV="1">
            <a:off x="343192" y="416294"/>
            <a:ext cx="0" cy="6036337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F26945A-197A-4378-950B-2D044CA0447A}"/>
              </a:ext>
            </a:extLst>
          </p:cNvPr>
          <p:cNvCxnSpPr>
            <a:cxnSpLocks/>
          </p:cNvCxnSpPr>
          <p:nvPr/>
        </p:nvCxnSpPr>
        <p:spPr>
          <a:xfrm>
            <a:off x="566372" y="6465843"/>
            <a:ext cx="11020498" cy="0"/>
          </a:xfrm>
          <a:prstGeom prst="line">
            <a:avLst/>
          </a:prstGeom>
          <a:ln w="28575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B09195D5-376F-433A-8451-B5DE75F67F78}"/>
              </a:ext>
            </a:extLst>
          </p:cNvPr>
          <p:cNvSpPr/>
          <p:nvPr/>
        </p:nvSpPr>
        <p:spPr>
          <a:xfrm>
            <a:off x="566372" y="6298051"/>
            <a:ext cx="2288696" cy="156586"/>
          </a:xfrm>
          <a:prstGeom prst="rect">
            <a:avLst/>
          </a:prstGeom>
          <a:solidFill>
            <a:srgbClr val="3C47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9D40A66A-185F-443F-AFEA-B338493B866A}"/>
              </a:ext>
            </a:extLst>
          </p:cNvPr>
          <p:cNvCxnSpPr>
            <a:cxnSpLocks/>
          </p:cNvCxnSpPr>
          <p:nvPr/>
        </p:nvCxnSpPr>
        <p:spPr>
          <a:xfrm flipV="1">
            <a:off x="3790739" y="4188593"/>
            <a:ext cx="6852277" cy="1"/>
          </a:xfrm>
          <a:prstGeom prst="line">
            <a:avLst/>
          </a:prstGeom>
          <a:ln w="190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99C39CF-7A99-4E05-A3DD-3BF8D617D4E7}"/>
              </a:ext>
            </a:extLst>
          </p:cNvPr>
          <p:cNvCxnSpPr>
            <a:cxnSpLocks/>
          </p:cNvCxnSpPr>
          <p:nvPr/>
        </p:nvCxnSpPr>
        <p:spPr>
          <a:xfrm>
            <a:off x="11810049" y="719528"/>
            <a:ext cx="0" cy="5746315"/>
          </a:xfrm>
          <a:prstGeom prst="line">
            <a:avLst/>
          </a:prstGeom>
          <a:ln w="107950" cmpd="thickThin">
            <a:solidFill>
              <a:srgbClr val="3C47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188427" y="3164809"/>
            <a:ext cx="12137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altLang="zh-CN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20180" y="2824827"/>
            <a:ext cx="10848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25000"/>
                    </a:srgbClr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PART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25000"/>
                  </a:srgbClr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3000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4" grpId="0" animBg="1"/>
      <p:bldP spid="37" grpId="0" animBg="1"/>
      <p:bldP spid="12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457698" y="551762"/>
            <a:ext cx="8866372" cy="4516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实验反思及工具优缺点：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在本次二维转三维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协同建模实验中，我通过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Canva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平面绘制、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Blender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折叠建模、豆包方案设计、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TraeCode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代码渲染四工具协同完成任务，整体流程可顺利落地，但过程中也暴露出明显问题与可优化空间。 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727232" y="1863709"/>
            <a:ext cx="3802812" cy="2382349"/>
            <a:chOff x="1079751" y="1499804"/>
            <a:chExt cx="3663978" cy="2592256"/>
          </a:xfrm>
        </p:grpSpPr>
        <p:sp>
          <p:nvSpPr>
            <p:cNvPr id="19" name="矩形: 圆角 18"/>
            <p:cNvSpPr/>
            <p:nvPr/>
          </p:nvSpPr>
          <p:spPr>
            <a:xfrm>
              <a:off x="1079751" y="1499804"/>
              <a:ext cx="3663977" cy="2165950"/>
            </a:xfrm>
            <a:prstGeom prst="roundRect">
              <a:avLst>
                <a:gd name="adj" fmla="val 2782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887" tIns="33944" rIns="67887" bIns="33944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5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20035" y="3370375"/>
              <a:ext cx="1896773" cy="721685"/>
            </a:xfrm>
            <a:prstGeom prst="rect">
              <a:avLst/>
            </a:prstGeom>
            <a:solidFill>
              <a:srgbClr val="666E8A"/>
            </a:solidFill>
            <a:effectLst/>
          </p:spPr>
          <p:txBody>
            <a:bodyPr wrap="square" lIns="67887" tIns="33944" rIns="67887" bIns="33944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>
                      <a:lumMod val="9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工具优缺点：豆包</a:t>
              </a:r>
              <a:r>
                <a:rPr lang="en-US" altLang="zh-CN" sz="1600" b="1" dirty="0" err="1">
                  <a:solidFill>
                    <a:schemeClr val="bg1">
                      <a:lumMod val="9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traecode</a:t>
              </a:r>
              <a:endParaRPr lang="zh-CN" altLang="en-US" sz="1600" b="1" dirty="0">
                <a:solidFill>
                  <a:schemeClr val="bg1">
                    <a:lumMod val="9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1079752" y="1499804"/>
              <a:ext cx="3663977" cy="179008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38485" tIns="19242" rIns="38485" bIns="19242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400" b="1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豆包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虽然擅长任务拆解和方案迭代，但无法一次性输出完整、精准的技术方案，需要我多次人工引导、提问细化，导致前期方案设计耗时较长。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zh-CN" sz="1400" b="1" dirty="0" err="1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Traecode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能够直接导入图片（二维素材）并且具备极强的自我检测能力，基本上能够将大致内容生成，而且其能够中途加入调整内容不用从头再来，但是其细节经常处理不到位，容易产生图片没法完全贴合的情况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096000" y="1863709"/>
            <a:ext cx="3571402" cy="2136866"/>
            <a:chOff x="6579855" y="1541597"/>
            <a:chExt cx="3571402" cy="2430585"/>
          </a:xfrm>
        </p:grpSpPr>
        <p:sp>
          <p:nvSpPr>
            <p:cNvPr id="20" name="矩形: 圆角 19"/>
            <p:cNvSpPr/>
            <p:nvPr/>
          </p:nvSpPr>
          <p:spPr>
            <a:xfrm>
              <a:off x="6579855" y="1541597"/>
              <a:ext cx="3571402" cy="2277795"/>
            </a:xfrm>
            <a:prstGeom prst="roundRect">
              <a:avLst>
                <a:gd name="adj" fmla="val 2782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887" tIns="33944" rIns="67887" bIns="33944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5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12741" y="3586574"/>
              <a:ext cx="2414997" cy="385608"/>
            </a:xfrm>
            <a:prstGeom prst="rect">
              <a:avLst/>
            </a:prstGeom>
            <a:solidFill>
              <a:srgbClr val="444D57"/>
            </a:solidFill>
            <a:effectLst/>
          </p:spPr>
          <p:txBody>
            <a:bodyPr wrap="square" lIns="67887" tIns="33944" rIns="67887" bIns="33944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>
                      <a:lumMod val="9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实验反思一</a:t>
              </a:r>
            </a:p>
          </p:txBody>
        </p:sp>
        <p:sp>
          <p:nvSpPr>
            <p:cNvPr id="32" name="矩形 31"/>
            <p:cNvSpPr>
              <a:spLocks noChangeArrowheads="1"/>
            </p:cNvSpPr>
            <p:nvPr/>
          </p:nvSpPr>
          <p:spPr bwMode="auto">
            <a:xfrm>
              <a:off x="6812741" y="1555220"/>
              <a:ext cx="3154924" cy="155788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38485" tIns="19242" rIns="38485" bIns="19242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二维素材标准化意识不足。本次实验中出现贴图贴合错位、折叠效果不完美的问题，根本原因是我在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Canva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制作二维平面图时，没有严格对齐尺寸、预留折叠边距与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UV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规范。这导致后续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Blender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折叠建模、</a:t>
              </a:r>
              <a:r>
                <a:rPr lang="en-US" altLang="zh-CN" sz="1200" dirty="0" err="1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TraeCode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自动渲染时出现细节瑕疵，需要反复返工调整。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96001" y="4560538"/>
            <a:ext cx="3571402" cy="1965558"/>
            <a:chOff x="6629431" y="3994993"/>
            <a:chExt cx="3521825" cy="2235730"/>
          </a:xfrm>
        </p:grpSpPr>
        <p:sp>
          <p:nvSpPr>
            <p:cNvPr id="22" name="矩形: 圆角 21"/>
            <p:cNvSpPr/>
            <p:nvPr/>
          </p:nvSpPr>
          <p:spPr>
            <a:xfrm>
              <a:off x="6629431" y="3994993"/>
              <a:ext cx="3521825" cy="1963747"/>
            </a:xfrm>
            <a:prstGeom prst="roundRect">
              <a:avLst>
                <a:gd name="adj" fmla="val 2782"/>
              </a:avLst>
            </a:prstGeom>
            <a:noFill/>
            <a:ln w="254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887" tIns="33944" rIns="67887" bIns="33944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5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859083" y="5845115"/>
              <a:ext cx="1270608" cy="385608"/>
            </a:xfrm>
            <a:prstGeom prst="rect">
              <a:avLst/>
            </a:prstGeom>
            <a:solidFill>
              <a:srgbClr val="666E8A"/>
            </a:solidFill>
            <a:effectLst>
              <a:outerShdw blurRad="114300" dist="38100" dir="5400000" algn="t" rotWithShape="0">
                <a:prstClr val="black">
                  <a:alpha val="31000"/>
                </a:prstClr>
              </a:outerShdw>
            </a:effectLst>
          </p:spPr>
          <p:txBody>
            <a:bodyPr wrap="square" lIns="67887" tIns="33944" rIns="67887" bIns="33944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>
                      <a:lumMod val="9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实验反思三</a:t>
              </a:r>
            </a:p>
          </p:txBody>
        </p:sp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6838867" y="4083245"/>
              <a:ext cx="3128798" cy="12831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38485" tIns="19242" rIns="38485" bIns="19242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本次实验，我对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思维链</a:t>
              </a:r>
              <a:r>
                <a:rPr lang="en-US" altLang="zh-CN" sz="1200" dirty="0" err="1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CoT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运用欠佳。起初只用简短提示词直接生成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Blender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脚本，没有引导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分步推理，缺少需求拆解、模型结构规划、贴图校验等环节，产出的脚本容易出现参数、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UV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贴图错误，调试比较耗时。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771074" y="4560539"/>
            <a:ext cx="3758969" cy="1973534"/>
            <a:chOff x="1135924" y="3994993"/>
            <a:chExt cx="3758969" cy="2244802"/>
          </a:xfrm>
        </p:grpSpPr>
        <p:sp>
          <p:nvSpPr>
            <p:cNvPr id="21" name="矩形: 圆角 20"/>
            <p:cNvSpPr/>
            <p:nvPr/>
          </p:nvSpPr>
          <p:spPr>
            <a:xfrm>
              <a:off x="1135924" y="3994993"/>
              <a:ext cx="3758969" cy="1963746"/>
            </a:xfrm>
            <a:prstGeom prst="roundRect">
              <a:avLst>
                <a:gd name="adj" fmla="val 2782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887" tIns="33944" rIns="67887" bIns="33944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5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45260" y="5854187"/>
              <a:ext cx="1229591" cy="385608"/>
            </a:xfrm>
            <a:prstGeom prst="rect">
              <a:avLst/>
            </a:prstGeom>
            <a:solidFill>
              <a:srgbClr val="444D57"/>
            </a:solidFill>
            <a:effectLst/>
          </p:spPr>
          <p:txBody>
            <a:bodyPr wrap="square" lIns="67887" tIns="33944" rIns="67887" bIns="33944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 dirty="0">
                  <a:solidFill>
                    <a:schemeClr val="bg1">
                      <a:lumMod val="9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实验反思二</a:t>
              </a:r>
            </a:p>
          </p:txBody>
        </p:sp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1351143" y="4083245"/>
              <a:ext cx="2944771" cy="17872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38485" tIns="19242" rIns="38485" bIns="19242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人工与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的协作配比不够合理。前期过度依赖</a:t>
              </a:r>
              <a:r>
                <a:rPr lang="en-US" altLang="zh-CN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自动生成，缺少前置检查，导致建模完成后才发现细节漏洞。</a:t>
              </a:r>
              <a:r>
                <a:rPr lang="en-US" altLang="zh-CN" sz="1200" dirty="0" err="1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TraeCode</a:t>
              </a:r>
              <a:r>
                <a:rPr lang="zh-CN" altLang="en-US"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虽然可以快速生成脚本与效果图、支持中途修改，但自身细节优化能力弱，如果前期素材、方案不严谨，后期无法自动修复细节问题。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4014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总结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2545492" y="779825"/>
            <a:ext cx="8081319" cy="5629261"/>
            <a:chOff x="1823648" y="2061912"/>
            <a:chExt cx="3835748" cy="4300564"/>
          </a:xfrm>
        </p:grpSpPr>
        <p:sp>
          <p:nvSpPr>
            <p:cNvPr id="58" name="矩形 57"/>
            <p:cNvSpPr/>
            <p:nvPr/>
          </p:nvSpPr>
          <p:spPr bwMode="auto">
            <a:xfrm>
              <a:off x="1823648" y="2190078"/>
              <a:ext cx="3835748" cy="4024466"/>
            </a:xfrm>
            <a:prstGeom prst="rect">
              <a:avLst/>
            </a:prstGeom>
            <a:noFill/>
            <a:ln>
              <a:solidFill>
                <a:schemeClr val="bg2">
                  <a:lumMod val="8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9" name="任意多边形: 形状 58"/>
            <p:cNvSpPr/>
            <p:nvPr/>
          </p:nvSpPr>
          <p:spPr bwMode="auto">
            <a:xfrm>
              <a:off x="1965587" y="2061912"/>
              <a:ext cx="3562213" cy="127898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95" name="任意多边形: 形状 94"/>
            <p:cNvSpPr/>
            <p:nvPr/>
          </p:nvSpPr>
          <p:spPr bwMode="auto">
            <a:xfrm>
              <a:off x="2203505" y="2061912"/>
              <a:ext cx="3097148" cy="745630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D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/>
            </a:p>
          </p:txBody>
        </p:sp>
        <p:sp>
          <p:nvSpPr>
            <p:cNvPr id="96" name="矩形 95"/>
            <p:cNvSpPr/>
            <p:nvPr/>
          </p:nvSpPr>
          <p:spPr>
            <a:xfrm>
              <a:off x="3700034" y="2232199"/>
              <a:ext cx="104088" cy="3959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2400" b="1" spc="300" dirty="0">
                <a:solidFill>
                  <a:schemeClr val="bg2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2203505" y="2807542"/>
              <a:ext cx="3097147" cy="3554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改进方向：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-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后续使用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辅助设计时，提前整理清晰需求框架，精准输入提示词，减少反复迭代，提升方案一次性准确率。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-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规范二维素材制作标准，在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Canva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绘制阶段严格统一尺寸、边距、展开结构，从源头避免三维贴合错位问题。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-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建立“先自查、再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生成，最后检验”的工作习惯，前置校验素材与方案，降低后期修改成本。</a:t>
              </a:r>
            </a:p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-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设计提示词时主动引入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CoT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思维链，要求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分步推理，先拆解建模需求、规划模型结构与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UV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贴图，再输出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bpy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代码。 。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总结</a:t>
              </a:r>
            </a:p>
            <a:p>
              <a:pPr algn="just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本次实验让我清晰认识到：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可以高效完成生成、建模、渲染工作，但细节精度、逻辑规范、流程把控仍然需要人工主导。只有人工标准化前置，配合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高效落地，才能真正实现稳定、高质量的二维转三维建模效果。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 algn="just">
                <a:lnSpc>
                  <a:spcPct val="12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 algn="just">
                <a:lnSpc>
                  <a:spcPct val="12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2644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 rot="5400000">
            <a:off x="33125" y="583141"/>
            <a:ext cx="1997612" cy="831330"/>
          </a:xfrm>
          <a:prstGeom prst="rect">
            <a:avLst/>
          </a:prstGeom>
          <a:solidFill>
            <a:srgbClr val="44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795353" y="5524628"/>
            <a:ext cx="2396647" cy="831330"/>
          </a:xfrm>
          <a:prstGeom prst="rect">
            <a:avLst/>
          </a:prstGeom>
          <a:solidFill>
            <a:srgbClr val="444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2401557" y="1931559"/>
            <a:ext cx="2627643" cy="1112087"/>
            <a:chOff x="1395722" y="1125414"/>
            <a:chExt cx="7881541" cy="3335673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7" name="直接连接符 6"/>
            <p:cNvCxnSpPr/>
            <p:nvPr/>
          </p:nvCxnSpPr>
          <p:spPr>
            <a:xfrm>
              <a:off x="1395722" y="1125414"/>
              <a:ext cx="7881541" cy="0"/>
            </a:xfrm>
            <a:prstGeom prst="line">
              <a:avLst/>
            </a:prstGeom>
            <a:ln w="762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519309" y="1125414"/>
              <a:ext cx="0" cy="3335673"/>
            </a:xfrm>
            <a:prstGeom prst="line">
              <a:avLst/>
            </a:prstGeom>
            <a:ln w="762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>
            <a:spLocks noChangeArrowheads="1"/>
          </p:cNvSpPr>
          <p:nvPr/>
        </p:nvSpPr>
        <p:spPr bwMode="auto">
          <a:xfrm>
            <a:off x="1941558" y="3375355"/>
            <a:ext cx="8335010" cy="1008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6000" b="1" cap="all" dirty="0">
                <a:solidFill>
                  <a:srgbClr val="211E20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谢谢观看</a:t>
            </a:r>
            <a:endParaRPr lang="en-US" altLang="zh-CN" sz="6000" b="1" cap="all" dirty="0">
              <a:solidFill>
                <a:srgbClr val="211E20"/>
              </a:solidFill>
              <a:effectLst>
                <a:outerShdw blurRad="25400" dist="25400" dir="2700000" algn="tl">
                  <a:srgbClr val="000000">
                    <a:alpha val="25000"/>
                  </a:srgb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62" name="矩形 61"/>
          <p:cNvSpPr>
            <a:spLocks noChangeArrowheads="1"/>
          </p:cNvSpPr>
          <p:nvPr/>
        </p:nvSpPr>
        <p:spPr bwMode="auto">
          <a:xfrm>
            <a:off x="1941558" y="2298872"/>
            <a:ext cx="8335010" cy="1217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7200" dirty="0">
                <a:solidFill>
                  <a:srgbClr val="666E8A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58" name="组合 57"/>
          <p:cNvGrpSpPr/>
          <p:nvPr/>
        </p:nvGrpSpPr>
        <p:grpSpPr>
          <a:xfrm flipH="1" flipV="1">
            <a:off x="7167710" y="3943073"/>
            <a:ext cx="2627643" cy="1112087"/>
            <a:chOff x="1395722" y="1125414"/>
            <a:chExt cx="7881541" cy="3335673"/>
          </a:xfrm>
          <a:effectLst>
            <a:outerShdw blurRad="101600" dist="38100" dir="2700000" algn="tl" rotWithShape="0">
              <a:prstClr val="black">
                <a:alpha val="20000"/>
              </a:prstClr>
            </a:outerShdw>
          </a:effectLst>
        </p:grpSpPr>
        <p:cxnSp>
          <p:nvCxnSpPr>
            <p:cNvPr id="59" name="直接连接符 58"/>
            <p:cNvCxnSpPr/>
            <p:nvPr/>
          </p:nvCxnSpPr>
          <p:spPr>
            <a:xfrm>
              <a:off x="1395722" y="1125414"/>
              <a:ext cx="7881541" cy="0"/>
            </a:xfrm>
            <a:prstGeom prst="line">
              <a:avLst/>
            </a:prstGeom>
            <a:ln w="762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1519309" y="1125414"/>
              <a:ext cx="0" cy="3335673"/>
            </a:xfrm>
            <a:prstGeom prst="line">
              <a:avLst/>
            </a:prstGeom>
            <a:ln w="76200">
              <a:solidFill>
                <a:srgbClr val="666E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5659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1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61" grpId="0"/>
      <p:bldP spid="6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1777</Words>
  <Application>Microsoft Office PowerPoint</Application>
  <PresentationFormat>宽屏</PresentationFormat>
  <Paragraphs>111</Paragraphs>
  <Slides>15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思源黑体</vt:lpstr>
      <vt:lpstr>思源宋体 CN Heavy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工具</vt:lpstr>
      <vt:lpstr>工具</vt:lpstr>
      <vt:lpstr>PowerPoint 演示文稿</vt:lpstr>
      <vt:lpstr>研究步骤</vt:lpstr>
      <vt:lpstr>遇到的问题</vt:lpstr>
      <vt:lpstr>实验记录</vt:lpstr>
      <vt:lpstr>PowerPoint 演示文稿</vt:lpstr>
      <vt:lpstr>结果呈现</vt:lpstr>
      <vt:lpstr>PowerPoint 演示文稿</vt:lpstr>
      <vt:lpstr>实验反思及工具优缺点：在本次二维转三维AI协同建模实验中，我通过Canva平面绘制、Blender折叠建模、豆包方案设计、TraeCode代码渲染四工具协同完成任务，整体流程可顺利落地，但过程中也暴露出明显问题与可优化空间。 </vt:lpstr>
      <vt:lpstr>总结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hb y</cp:lastModifiedBy>
  <cp:revision>77</cp:revision>
  <dcterms:created xsi:type="dcterms:W3CDTF">2021-11-15T06:08:56Z</dcterms:created>
  <dcterms:modified xsi:type="dcterms:W3CDTF">2026-10-14T11:04:27Z</dcterms:modified>
</cp:coreProperties>
</file>